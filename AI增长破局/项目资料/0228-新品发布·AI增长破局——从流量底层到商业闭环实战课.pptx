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0.svg" ContentType="image/svg+xml"/>
  <Override PartName="/ppt/media/image101.svg" ContentType="image/svg+xml"/>
  <Override PartName="/ppt/media/image104.svg" ContentType="image/svg+xml"/>
  <Override PartName="/ppt/media/image106.svg" ContentType="image/svg+xml"/>
  <Override PartName="/ppt/media/image109.svg" ContentType="image/svg+xml"/>
  <Override PartName="/ppt/media/image111.svg" ContentType="image/svg+xml"/>
  <Override PartName="/ppt/media/image113.svg" ContentType="image/svg+xml"/>
  <Override PartName="/ppt/media/image115.svg" ContentType="image/svg+xml"/>
  <Override PartName="/ppt/media/image117.svg" ContentType="image/svg+xml"/>
  <Override PartName="/ppt/media/image119.svg" ContentType="image/svg+xml"/>
  <Override PartName="/ppt/media/image12.svg" ContentType="image/svg+xml"/>
  <Override PartName="/ppt/media/image121.svg" ContentType="image/svg+xml"/>
  <Override PartName="/ppt/media/image124.svg" ContentType="image/svg+xml"/>
  <Override PartName="/ppt/media/image128.svg" ContentType="image/svg+xml"/>
  <Override PartName="/ppt/media/image130.svg" ContentType="image/svg+xml"/>
  <Override PartName="/ppt/media/image132.svg" ContentType="image/svg+xml"/>
  <Override PartName="/ppt/media/image135.svg" ContentType="image/svg+xml"/>
  <Override PartName="/ppt/media/image137.svg" ContentType="image/svg+xml"/>
  <Override PartName="/ppt/media/image139.svg" ContentType="image/svg+xml"/>
  <Override PartName="/ppt/media/image14.svg" ContentType="image/svg+xml"/>
  <Override PartName="/ppt/media/image16.svg" ContentType="image/svg+xml"/>
  <Override PartName="/ppt/media/image18.svg" ContentType="image/svg+xml"/>
  <Override PartName="/ppt/media/image2.svg" ContentType="image/svg+xml"/>
  <Override PartName="/ppt/media/image20.svg" ContentType="image/svg+xml"/>
  <Override PartName="/ppt/media/image22.svg" ContentType="image/svg+xml"/>
  <Override PartName="/ppt/media/image24.svg" ContentType="image/svg+xml"/>
  <Override PartName="/ppt/media/image26.svg" ContentType="image/svg+xml"/>
  <Override PartName="/ppt/media/image29.svg" ContentType="image/svg+xml"/>
  <Override PartName="/ppt/media/image31.svg" ContentType="image/svg+xml"/>
  <Override PartName="/ppt/media/image33.svg" ContentType="image/svg+xml"/>
  <Override PartName="/ppt/media/image37.svg" ContentType="image/svg+xml"/>
  <Override PartName="/ppt/media/image39.svg" ContentType="image/svg+xml"/>
  <Override PartName="/ppt/media/image4.svg" ContentType="image/svg+xml"/>
  <Override PartName="/ppt/media/image41.svg" ContentType="image/svg+xml"/>
  <Override PartName="/ppt/media/image43.svg" ContentType="image/svg+xml"/>
  <Override PartName="/ppt/media/image45.svg" ContentType="image/svg+xml"/>
  <Override PartName="/ppt/media/image47.svg" ContentType="image/svg+xml"/>
  <Override PartName="/ppt/media/image50.svg" ContentType="image/svg+xml"/>
  <Override PartName="/ppt/media/image53.svg" ContentType="image/svg+xml"/>
  <Override PartName="/ppt/media/image55.svg" ContentType="image/svg+xml"/>
  <Override PartName="/ppt/media/image57.svg" ContentType="image/svg+xml"/>
  <Override PartName="/ppt/media/image6.svg" ContentType="image/svg+xml"/>
  <Override PartName="/ppt/media/image60.svg" ContentType="image/svg+xml"/>
  <Override PartName="/ppt/media/image63.svg" ContentType="image/svg+xml"/>
  <Override PartName="/ppt/media/image64.svg" ContentType="image/svg+xml"/>
  <Override PartName="/ppt/media/image66.svg" ContentType="image/svg+xml"/>
  <Override PartName="/ppt/media/image67.svg" ContentType="image/svg+xml"/>
  <Override PartName="/ppt/media/image69.svg" ContentType="image/svg+xml"/>
  <Override PartName="/ppt/media/image71.svg" ContentType="image/svg+xml"/>
  <Override PartName="/ppt/media/image73.svg" ContentType="image/svg+xml"/>
  <Override PartName="/ppt/media/image75.svg" ContentType="image/svg+xml"/>
  <Override PartName="/ppt/media/image77.svg" ContentType="image/svg+xml"/>
  <Override PartName="/ppt/media/image79.svg" ContentType="image/svg+xml"/>
  <Override PartName="/ppt/media/image8.svg" ContentType="image/svg+xml"/>
  <Override PartName="/ppt/media/image81.svg" ContentType="image/svg+xml"/>
  <Override PartName="/ppt/media/image83.svg" ContentType="image/svg+xml"/>
  <Override PartName="/ppt/media/image85.svg" ContentType="image/svg+xml"/>
  <Override PartName="/ppt/media/image87.svg" ContentType="image/svg+xml"/>
  <Override PartName="/ppt/media/image89.svg" ContentType="image/svg+xml"/>
  <Override PartName="/ppt/media/image91.svg" ContentType="image/svg+xml"/>
  <Override PartName="/ppt/media/image93.svg" ContentType="image/svg+xml"/>
  <Override PartName="/ppt/media/image95.svg" ContentType="image/svg+xml"/>
  <Override PartName="/ppt/media/image97.svg" ContentType="image/svg+xml"/>
  <Override PartName="/ppt/media/image99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660" r:id="rId3"/>
    <p:sldMasterId id="2147483662" r:id="rId4"/>
    <p:sldMasterId id="2147483664" r:id="rId5"/>
  </p:sldMasterIdLst>
  <p:notesMasterIdLst>
    <p:notesMasterId r:id="rId7"/>
  </p:notesMasterIdLst>
  <p:sldIdLst>
    <p:sldId id="256" r:id="rId6"/>
    <p:sldId id="257" r:id="rId8"/>
    <p:sldId id="258" r:id="rId9"/>
    <p:sldId id="259" r:id="rId10"/>
    <p:sldId id="260" r:id="rId11"/>
    <p:sldId id="262" r:id="rId12"/>
    <p:sldId id="263" r:id="rId13"/>
    <p:sldId id="264" r:id="rId14"/>
    <p:sldId id="265" r:id="rId15"/>
    <p:sldId id="281" r:id="rId16"/>
    <p:sldId id="266" r:id="rId17"/>
    <p:sldId id="267" r:id="rId18"/>
    <p:sldId id="272" r:id="rId19"/>
    <p:sldId id="273" r:id="rId20"/>
    <p:sldId id="270" r:id="rId21"/>
    <p:sldId id="271" r:id="rId22"/>
    <p:sldId id="274" r:id="rId23"/>
    <p:sldId id="275" r:id="rId24"/>
    <p:sldId id="276" r:id="rId25"/>
    <p:sldId id="277" r:id="rId26"/>
    <p:sldId id="278" r:id="rId27"/>
    <p:sldId id="279" r:id="rId28"/>
    <p:sldId id="282" r:id="rId29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9pPr>
  </p:defaultTextStyle>
  <p:extLst>
    <p:ext uri="{EFAFB233-063F-42B5-8137-9DF3F51BA10A}">
      <p15:sldGuideLst xmlns:p15="http://schemas.microsoft.com/office/powerpoint/2012/main">
        <p15:guide id="1" orient="horz" pos="1640" userDrawn="1">
          <p15:clr>
            <a:srgbClr val="747775"/>
          </p15:clr>
        </p15:guide>
        <p15:guide id="2" pos="2880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1640"/>
        <p:guide pos="288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3.xml"/><Relationship Id="rId8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5" Type="http://schemas.openxmlformats.org/officeDocument/2006/relationships/slideMaster" Target="slideMasters/slideMaster4.xml"/><Relationship Id="rId4" Type="http://schemas.openxmlformats.org/officeDocument/2006/relationships/slideMaster" Target="slideMasters/slideMaster3.xml"/><Relationship Id="rId32" Type="http://schemas.openxmlformats.org/officeDocument/2006/relationships/tableStyles" Target="tableStyles.xml"/><Relationship Id="rId31" Type="http://schemas.openxmlformats.org/officeDocument/2006/relationships/viewProps" Target="viewProps.xml"/><Relationship Id="rId30" Type="http://schemas.openxmlformats.org/officeDocument/2006/relationships/presProps" Target="presProps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3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0" Type="http://schemas.openxmlformats.org/officeDocument/2006/relationships/slide" Target="slides/slide14.xml"/><Relationship Id="rId2" Type="http://schemas.openxmlformats.org/officeDocument/2006/relationships/theme" Target="theme/theme1.xml"/><Relationship Id="rId19" Type="http://schemas.openxmlformats.org/officeDocument/2006/relationships/slide" Target="slides/slide13.xml"/><Relationship Id="rId18" Type="http://schemas.openxmlformats.org/officeDocument/2006/relationships/slide" Target="slides/slide12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大家好，欢迎参加本次《新品发布·AI增长破局》实战课程。今天，我们将一起深入探讨，在AI时代，如何从流量的底层逻辑出发，为新品打造一套完整的商业增长闭环。这套课程是为企业创始人、品牌负责人和增长操盘手量身定制的，希望能为大家带来全新的启发和可落地的解决方案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正式开始之前，我想先问问大家，是不是正在被这些问题困扰？新品一上市就卖不动，广告投了不少钱却不见回头，AI内容做了一堆却没效果，甚至还可能伤害品牌。这些都是当前新品增长面临的普遍困局，而我们今天的课程，就是为了解决这些问题而来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那么，通过今天的课程，你具体能收获什么呢？简单来说，就是五个核心能力：学会新品冷启动、看透流量本质、搭建自运营AI体系、实现增长可计算，以及最终完成商业闭环。这五个能力将构成你在AI时代新品增长的核心竞争力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在开始分享具体的方法之前，请允许我用一点时间介绍自己。我想说明的是，我接下来要分享的所有内容，都不是纸上谈兵，而是基于我过去十多年在不同领域的实战经验总结而来。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的经历主要分为四个阶段：首先是广告竞价和投放，这让我理解了流量的底层逻辑；接着是金融量化和风控，这让我学会了用数据和模型做决策，控制风险；然后是企业分析，这让我能站在更高的维度，看清生意的本质和用户的真需求；最后，我将所有这些经验整合，聚焦于AI时代的品牌营销和增长破局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所以，这门课的核心逻辑非常清晰：我们不会一上来就讲怎么投广告、怎么做AI内容，而是先从商业的本质——用户真需求入手，然后理解流量的底层逻辑，接着用量化和风控思维为增长保驾护航，最后再用一套完整的AI系统来放大增长效果，最终实现从流量到商业的完美闭环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好，现在我们进入第二部分，来聊聊所有增长的源头——广告竞价。理解了它，你就理解了互联网流量生意的一半。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你在网上看到的每一条广告，都不是随机的。它的背后有三个核心决定因素：首先是“用户画像”，系统要知道你是谁；其次是“广告位场景”，要知道广告出现在哪里；最后，也是最关键的，是“竞价机制”，谁出价更优，谁就能赢得这个展示机会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整个广告生态由四个核心角色构成：用户、广告联盟、品牌方和竞价投放方。广告联盟就像一个大市场，品牌方是来市场买摊位（广告位）的商户，竞价投放方是品牌方雇来的专业买手，而用户就是逛市场的顾客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整个广告生态由四个核心角色构成：用户、广告联盟、品牌方和竞价投放方。广告联盟就像一个大市场，品牌方是来市场买摊位（广告位）的商户，竞价投放方是品牌方雇来的专业买手，而用户就是逛市场的顾客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的一个独特优势在于，我既站在品牌方的角度思考问题，也理解投放方的操作逻辑。品牌方想要的是结果和安全，投放方考虑的是策略和执行。这种双视角的经验，能让我为你提供最全面、最务实的解决方案，确保你的投放既有效又安全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广告主要分为品牌广告和效果广告。对于新品增长来说，效果广告更为关键。它的核心逻辑就是一个清晰的转化漏斗：投入广告费，获得用户点击，最终实现购买转化，我们通过计算投入和产出的比例（ROI）来衡量广告的成功与否。我们所有的投放策略，都是为了优化这个漏斗，提升最终的ROI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有了前面的底层能力和决策思维作为基础，我们现在可以进入最核心的部分：如何在AI时代，为新品发布打造一套完整的增长破局解决方案。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为什么说传统的增长方法救不了新品？因为它们都有致命的缺陷。SEO太慢，GEO太脆，而外包则让你彻底失去了对增长的控制权。在快节奏的AI时代，这些方法已经无法满足新品快速起量、建立长期壁垒的需求。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AI时代，我们尤其需要风控思维。最大的风险就是“AI投毒”。把AI内容运营外包，就相当于把你的品牌声誉交给了别人，很容易因为内容不当而污染AI对品牌的认知，造成永久性伤害。所以，我的建议是，AI增长的核心环节，必须自己来做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后，我们要回归商业的本质。在AI时代，技术的门槛越来越低，用户也越来越理性。一个产品的成功，不再取决于它的技术有多炫，而是取决于它是否解决了用户的真痛点。这就是企业分析思维告诉我们的：先把产品做对，再谈增长，否则一切都是空中楼阁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的核心武器，是四大AI增长全域图谱。这四大图谱分别从渠道、品类、场景和产品四个维度，为新品增长提供了精准的导航。渠道图谱帮我们找路，品类图谱帮我们定位，场景图谱帮我们讲故事，产品图谱帮我们找差异。它们共同构成了新品增长的底层数据基础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有了四大图谱，我们就可以进行深度的“下钻”操作。首先，从图谱中提炼出用户最关心的选题；然后，基于这些选题生成适配AI的高质量内容；最后，也是最关键的一步，是将内容和增长过程中产生的数据，反过来用于优化我们的产品。这就形成了一个从用户需求到产品迭代的完整闭环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想强调的是，我们提供的不是单点的技巧，而是一套系统级的增长方案。它不是只解决你某一个环节的问题，而是构建了一个能够自动运转、自我优化的增长生命体。从流量获取到内容生产，从用户转化到产品迭代，再到品牌沉淀，各个环节环环相扣，形成一个完整的生态系统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理论讲完了，现在我们进入最实战的部分。我将结合新品发布的四个关键阶段，为大家详细拆解每个阶段的痛点和我们对应的AI增长实战打法。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是我们为新品发布四个阶段量身定制的实战打法。在筹备期，用图谱定方向；在首发期，用AI快速破圈；在爆发期，用系统放大规模；在沉淀期，用数据反哺产品。这四个阶段环环相扣，构成了新品从0到1，再到N的完整增长路径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课程的最后，我们来做一个总结。通过今天的学习，我希望大家能带走三大核心能力：第一，看懂流量的底层逻辑；第二，具备商业的决策思维；第三，掌握AI增长的落地打法。这三个能力，将是你在未来竞争中最宝贵的财富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的分享到此结束，非常感谢大家的耐心聆听。接下来是问答环节，大家有任何问题都可以提出来，我们一起交流探讨。同时，我也为大家准备了一份实战工具包，包含新品AI增长自查表和四大图谱的搭建框架，希望能帮助大家更好地将今天的内容应用到实际工作中。谢谢大家！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标题幻灯片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9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标题和内容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节标题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9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两栏内容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比较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39" name="Shape 37"/>
          <p:cNvSpPr txBox="1"/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41" name="Shape 39"/>
          <p:cNvSpPr txBox="1"/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仅标题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空白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内容与标题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9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图片与标题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9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标题和竖排文字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竖排标题与文本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13.xml"/></Relationships>
</file>

<file path=ppt/slideMasters/_rels/slideMaster4.xml.rels><?xml version="1.0" encoding="UTF-8" standalone="yes"?>
<Relationships xmlns="http://schemas.openxmlformats.org/package/2006/relationships"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 panose="020B0604020202090204"/>
              <a:buNone/>
              <a:defRPr sz="33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90204"/>
              <a:buChar char="•"/>
              <a:defRPr sz="21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9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90204"/>
              <a:buChar char="•"/>
              <a:defRPr sz="15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9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9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9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9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9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9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9pPr>
          </a:lstStyle>
          <a:p/>
        </p:txBody>
      </p:sp>
      <p:sp>
        <p:nvSpPr>
          <p:cNvPr id="8" name="Shape 3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9pPr>
          </a:lstStyle>
          <a:p/>
        </p:txBody>
      </p:sp>
      <p:sp>
        <p:nvSpPr>
          <p:cNvPr id="9" name="Shape 4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9pPr>
          </a:lstStyle>
          <a:p/>
        </p:txBody>
      </p:sp>
      <p:sp>
        <p:nvSpPr>
          <p:cNvPr id="10" name="Shape 5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3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5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image" Target="../media/image9.png"/><Relationship Id="rId8" Type="http://schemas.openxmlformats.org/officeDocument/2006/relationships/image" Target="../media/image8.svg"/><Relationship Id="rId7" Type="http://schemas.openxmlformats.org/officeDocument/2006/relationships/image" Target="../media/image7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2" Type="http://schemas.openxmlformats.org/officeDocument/2006/relationships/notesSlide" Target="../notesSlides/notesSlide1.xml"/><Relationship Id="rId11" Type="http://schemas.openxmlformats.org/officeDocument/2006/relationships/slideLayout" Target="../slideLayouts/slideLayout12.xml"/><Relationship Id="rId10" Type="http://schemas.openxmlformats.org/officeDocument/2006/relationships/image" Target="../media/image10.sv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image" Target="../media/image19.png"/><Relationship Id="rId8" Type="http://schemas.openxmlformats.org/officeDocument/2006/relationships/image" Target="../media/image18.svg"/><Relationship Id="rId7" Type="http://schemas.openxmlformats.org/officeDocument/2006/relationships/image" Target="../media/image17.png"/><Relationship Id="rId6" Type="http://schemas.openxmlformats.org/officeDocument/2006/relationships/image" Target="../media/image16.svg"/><Relationship Id="rId5" Type="http://schemas.openxmlformats.org/officeDocument/2006/relationships/image" Target="../media/image15.png"/><Relationship Id="rId4" Type="http://schemas.openxmlformats.org/officeDocument/2006/relationships/image" Target="../media/image14.svg"/><Relationship Id="rId3" Type="http://schemas.openxmlformats.org/officeDocument/2006/relationships/image" Target="../media/image13.png"/><Relationship Id="rId2" Type="http://schemas.openxmlformats.org/officeDocument/2006/relationships/image" Target="../media/image12.svg"/><Relationship Id="rId14" Type="http://schemas.openxmlformats.org/officeDocument/2006/relationships/notesSlide" Target="../notesSlides/notesSlide2.xml"/><Relationship Id="rId13" Type="http://schemas.openxmlformats.org/officeDocument/2006/relationships/slideLayout" Target="../slideLayouts/slideLayout12.xml"/><Relationship Id="rId12" Type="http://schemas.openxmlformats.org/officeDocument/2006/relationships/image" Target="../media/image22.svg"/><Relationship Id="rId11" Type="http://schemas.openxmlformats.org/officeDocument/2006/relationships/image" Target="../media/image21.png"/><Relationship Id="rId10" Type="http://schemas.openxmlformats.org/officeDocument/2006/relationships/image" Target="../media/image20.svg"/><Relationship Id="rId1" Type="http://schemas.openxmlformats.org/officeDocument/2006/relationships/image" Target="../media/image11.pn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image" Target="../media/image30.png"/><Relationship Id="rId8" Type="http://schemas.openxmlformats.org/officeDocument/2006/relationships/image" Target="../media/image29.svg"/><Relationship Id="rId7" Type="http://schemas.openxmlformats.org/officeDocument/2006/relationships/image" Target="../media/image28.png"/><Relationship Id="rId6" Type="http://schemas.openxmlformats.org/officeDocument/2006/relationships/image" Target="../media/image16.svg"/><Relationship Id="rId5" Type="http://schemas.openxmlformats.org/officeDocument/2006/relationships/image" Target="../media/image27.png"/><Relationship Id="rId4" Type="http://schemas.openxmlformats.org/officeDocument/2006/relationships/image" Target="../media/image26.svg"/><Relationship Id="rId3" Type="http://schemas.openxmlformats.org/officeDocument/2006/relationships/image" Target="../media/image25.png"/><Relationship Id="rId2" Type="http://schemas.openxmlformats.org/officeDocument/2006/relationships/image" Target="../media/image24.svg"/><Relationship Id="rId14" Type="http://schemas.openxmlformats.org/officeDocument/2006/relationships/notesSlide" Target="../notesSlides/notesSlide3.xml"/><Relationship Id="rId13" Type="http://schemas.openxmlformats.org/officeDocument/2006/relationships/slideLayout" Target="../slideLayouts/slideLayout12.xml"/><Relationship Id="rId12" Type="http://schemas.openxmlformats.org/officeDocument/2006/relationships/image" Target="../media/image33.svg"/><Relationship Id="rId11" Type="http://schemas.openxmlformats.org/officeDocument/2006/relationships/image" Target="../media/image32.png"/><Relationship Id="rId10" Type="http://schemas.openxmlformats.org/officeDocument/2006/relationships/image" Target="../media/image31.svg"/><Relationship Id="rId1" Type="http://schemas.openxmlformats.org/officeDocument/2006/relationships/image" Target="../media/image2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34.jpe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image" Target="../media/image16.svg"/><Relationship Id="rId7" Type="http://schemas.openxmlformats.org/officeDocument/2006/relationships/image" Target="../media/image27.png"/><Relationship Id="rId6" Type="http://schemas.openxmlformats.org/officeDocument/2006/relationships/image" Target="../media/image39.svg"/><Relationship Id="rId5" Type="http://schemas.openxmlformats.org/officeDocument/2006/relationships/image" Target="../media/image38.png"/><Relationship Id="rId4" Type="http://schemas.openxmlformats.org/officeDocument/2006/relationships/image" Target="../media/image37.svg"/><Relationship Id="rId3" Type="http://schemas.openxmlformats.org/officeDocument/2006/relationships/image" Target="../media/image36.png"/><Relationship Id="rId2" Type="http://schemas.openxmlformats.org/officeDocument/2006/relationships/image" Target="../media/image14.svg"/><Relationship Id="rId10" Type="http://schemas.openxmlformats.org/officeDocument/2006/relationships/notesSlide" Target="../notesSlides/notesSlide5.xml"/><Relationship Id="rId1" Type="http://schemas.openxmlformats.org/officeDocument/2006/relationships/image" Target="../media/image35.pn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image" Target="../media/image27.png"/><Relationship Id="rId8" Type="http://schemas.openxmlformats.org/officeDocument/2006/relationships/image" Target="../media/image47.svg"/><Relationship Id="rId7" Type="http://schemas.openxmlformats.org/officeDocument/2006/relationships/image" Target="../media/image46.png"/><Relationship Id="rId6" Type="http://schemas.openxmlformats.org/officeDocument/2006/relationships/image" Target="../media/image45.svg"/><Relationship Id="rId5" Type="http://schemas.openxmlformats.org/officeDocument/2006/relationships/image" Target="../media/image44.png"/><Relationship Id="rId4" Type="http://schemas.openxmlformats.org/officeDocument/2006/relationships/image" Target="../media/image43.svg"/><Relationship Id="rId3" Type="http://schemas.openxmlformats.org/officeDocument/2006/relationships/image" Target="../media/image42.png"/><Relationship Id="rId2" Type="http://schemas.openxmlformats.org/officeDocument/2006/relationships/image" Target="../media/image41.svg"/><Relationship Id="rId14" Type="http://schemas.openxmlformats.org/officeDocument/2006/relationships/notesSlide" Target="../notesSlides/notesSlide6.xml"/><Relationship Id="rId13" Type="http://schemas.openxmlformats.org/officeDocument/2006/relationships/slideLayout" Target="../slideLayouts/slideLayout12.xml"/><Relationship Id="rId12" Type="http://schemas.openxmlformats.org/officeDocument/2006/relationships/image" Target="../media/image31.svg"/><Relationship Id="rId11" Type="http://schemas.openxmlformats.org/officeDocument/2006/relationships/image" Target="../media/image48.png"/><Relationship Id="rId10" Type="http://schemas.openxmlformats.org/officeDocument/2006/relationships/image" Target="../media/image16.svg"/><Relationship Id="rId1" Type="http://schemas.openxmlformats.org/officeDocument/2006/relationships/image" Target="../media/image40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50.svg"/><Relationship Id="rId1" Type="http://schemas.openxmlformats.org/officeDocument/2006/relationships/image" Target="../media/image49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8.xml"/><Relationship Id="rId7" Type="http://schemas.openxmlformats.org/officeDocument/2006/relationships/slideLayout" Target="../slideLayouts/slideLayout12.xml"/><Relationship Id="rId6" Type="http://schemas.openxmlformats.org/officeDocument/2006/relationships/image" Target="../media/image55.svg"/><Relationship Id="rId5" Type="http://schemas.openxmlformats.org/officeDocument/2006/relationships/image" Target="../media/image54.png"/><Relationship Id="rId4" Type="http://schemas.openxmlformats.org/officeDocument/2006/relationships/image" Target="../media/image53.svg"/><Relationship Id="rId3" Type="http://schemas.openxmlformats.org/officeDocument/2006/relationships/image" Target="../media/image52.png"/><Relationship Id="rId2" Type="http://schemas.openxmlformats.org/officeDocument/2006/relationships/image" Target="../media/image2.svg"/><Relationship Id="rId1" Type="http://schemas.openxmlformats.org/officeDocument/2006/relationships/image" Target="../media/image51.png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image" Target="../media/image37.svg"/><Relationship Id="rId7" Type="http://schemas.openxmlformats.org/officeDocument/2006/relationships/image" Target="../media/image61.png"/><Relationship Id="rId6" Type="http://schemas.openxmlformats.org/officeDocument/2006/relationships/image" Target="../media/image60.svg"/><Relationship Id="rId5" Type="http://schemas.openxmlformats.org/officeDocument/2006/relationships/image" Target="../media/image59.png"/><Relationship Id="rId4" Type="http://schemas.openxmlformats.org/officeDocument/2006/relationships/image" Target="../media/image20.svg"/><Relationship Id="rId3" Type="http://schemas.openxmlformats.org/officeDocument/2006/relationships/image" Target="../media/image58.png"/><Relationship Id="rId2" Type="http://schemas.openxmlformats.org/officeDocument/2006/relationships/image" Target="../media/image57.svg"/><Relationship Id="rId10" Type="http://schemas.openxmlformats.org/officeDocument/2006/relationships/notesSlide" Target="../notesSlides/notesSlide9.xml"/><Relationship Id="rId1" Type="http://schemas.openxmlformats.org/officeDocument/2006/relationships/image" Target="../media/image56.png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3.xml"/><Relationship Id="rId8" Type="http://schemas.openxmlformats.org/officeDocument/2006/relationships/image" Target="../media/image67.svg"/><Relationship Id="rId7" Type="http://schemas.openxmlformats.org/officeDocument/2006/relationships/image" Target="../media/image61.png"/><Relationship Id="rId6" Type="http://schemas.openxmlformats.org/officeDocument/2006/relationships/image" Target="../media/image66.svg"/><Relationship Id="rId5" Type="http://schemas.openxmlformats.org/officeDocument/2006/relationships/image" Target="../media/image65.png"/><Relationship Id="rId4" Type="http://schemas.openxmlformats.org/officeDocument/2006/relationships/image" Target="../media/image64.svg"/><Relationship Id="rId3" Type="http://schemas.openxmlformats.org/officeDocument/2006/relationships/image" Target="../media/image58.png"/><Relationship Id="rId2" Type="http://schemas.openxmlformats.org/officeDocument/2006/relationships/image" Target="../media/image63.svg"/><Relationship Id="rId10" Type="http://schemas.openxmlformats.org/officeDocument/2006/relationships/notesSlide" Target="../notesSlides/notesSlide10.xml"/><Relationship Id="rId1" Type="http://schemas.openxmlformats.org/officeDocument/2006/relationships/image" Target="../media/image62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1.xml"/><Relationship Id="rId7" Type="http://schemas.openxmlformats.org/officeDocument/2006/relationships/slideLayout" Target="../slideLayouts/slideLayout12.xml"/><Relationship Id="rId6" Type="http://schemas.openxmlformats.org/officeDocument/2006/relationships/image" Target="../media/image71.svg"/><Relationship Id="rId5" Type="http://schemas.openxmlformats.org/officeDocument/2006/relationships/image" Target="../media/image70.png"/><Relationship Id="rId4" Type="http://schemas.openxmlformats.org/officeDocument/2006/relationships/image" Target="../media/image37.svg"/><Relationship Id="rId3" Type="http://schemas.openxmlformats.org/officeDocument/2006/relationships/image" Target="../media/image61.png"/><Relationship Id="rId2" Type="http://schemas.openxmlformats.org/officeDocument/2006/relationships/image" Target="../media/image69.svg"/><Relationship Id="rId1" Type="http://schemas.openxmlformats.org/officeDocument/2006/relationships/image" Target="../media/image68.png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image" Target="../media/image78.png"/><Relationship Id="rId8" Type="http://schemas.openxmlformats.org/officeDocument/2006/relationships/image" Target="../media/image77.svg"/><Relationship Id="rId7" Type="http://schemas.openxmlformats.org/officeDocument/2006/relationships/image" Target="../media/image76.png"/><Relationship Id="rId6" Type="http://schemas.openxmlformats.org/officeDocument/2006/relationships/image" Target="../media/image37.svg"/><Relationship Id="rId5" Type="http://schemas.openxmlformats.org/officeDocument/2006/relationships/image" Target="../media/image61.png"/><Relationship Id="rId4" Type="http://schemas.openxmlformats.org/officeDocument/2006/relationships/image" Target="../media/image75.svg"/><Relationship Id="rId3" Type="http://schemas.openxmlformats.org/officeDocument/2006/relationships/image" Target="../media/image74.png"/><Relationship Id="rId22" Type="http://schemas.openxmlformats.org/officeDocument/2006/relationships/notesSlide" Target="../notesSlides/notesSlide12.xml"/><Relationship Id="rId21" Type="http://schemas.openxmlformats.org/officeDocument/2006/relationships/slideLayout" Target="../slideLayouts/slideLayout12.xml"/><Relationship Id="rId20" Type="http://schemas.openxmlformats.org/officeDocument/2006/relationships/image" Target="../media/image89.svg"/><Relationship Id="rId2" Type="http://schemas.openxmlformats.org/officeDocument/2006/relationships/image" Target="../media/image73.svg"/><Relationship Id="rId19" Type="http://schemas.openxmlformats.org/officeDocument/2006/relationships/image" Target="../media/image88.png"/><Relationship Id="rId18" Type="http://schemas.openxmlformats.org/officeDocument/2006/relationships/image" Target="../media/image87.svg"/><Relationship Id="rId17" Type="http://schemas.openxmlformats.org/officeDocument/2006/relationships/image" Target="../media/image86.png"/><Relationship Id="rId16" Type="http://schemas.openxmlformats.org/officeDocument/2006/relationships/image" Target="../media/image85.svg"/><Relationship Id="rId15" Type="http://schemas.openxmlformats.org/officeDocument/2006/relationships/image" Target="../media/image84.png"/><Relationship Id="rId14" Type="http://schemas.openxmlformats.org/officeDocument/2006/relationships/image" Target="../media/image83.svg"/><Relationship Id="rId13" Type="http://schemas.openxmlformats.org/officeDocument/2006/relationships/image" Target="../media/image82.png"/><Relationship Id="rId12" Type="http://schemas.openxmlformats.org/officeDocument/2006/relationships/image" Target="../media/image81.svg"/><Relationship Id="rId11" Type="http://schemas.openxmlformats.org/officeDocument/2006/relationships/image" Target="../media/image80.png"/><Relationship Id="rId10" Type="http://schemas.openxmlformats.org/officeDocument/2006/relationships/image" Target="../media/image79.svg"/><Relationship Id="rId1" Type="http://schemas.openxmlformats.org/officeDocument/2006/relationships/image" Target="../media/image72.png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3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91.svg"/><Relationship Id="rId1" Type="http://schemas.openxmlformats.org/officeDocument/2006/relationships/image" Target="../media/image90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4.xml"/><Relationship Id="rId7" Type="http://schemas.openxmlformats.org/officeDocument/2006/relationships/slideLayout" Target="../slideLayouts/slideLayout12.xml"/><Relationship Id="rId6" Type="http://schemas.openxmlformats.org/officeDocument/2006/relationships/image" Target="../media/image95.svg"/><Relationship Id="rId5" Type="http://schemas.openxmlformats.org/officeDocument/2006/relationships/image" Target="../media/image94.png"/><Relationship Id="rId4" Type="http://schemas.openxmlformats.org/officeDocument/2006/relationships/image" Target="../media/image16.svg"/><Relationship Id="rId3" Type="http://schemas.openxmlformats.org/officeDocument/2006/relationships/image" Target="../media/image27.png"/><Relationship Id="rId2" Type="http://schemas.openxmlformats.org/officeDocument/2006/relationships/image" Target="../media/image93.svg"/><Relationship Id="rId1" Type="http://schemas.openxmlformats.org/officeDocument/2006/relationships/image" Target="../media/image92.png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image" Target="../media/image101.svg"/><Relationship Id="rId7" Type="http://schemas.openxmlformats.org/officeDocument/2006/relationships/image" Target="../media/image100.png"/><Relationship Id="rId6" Type="http://schemas.openxmlformats.org/officeDocument/2006/relationships/image" Target="../media/image99.svg"/><Relationship Id="rId5" Type="http://schemas.openxmlformats.org/officeDocument/2006/relationships/image" Target="../media/image98.png"/><Relationship Id="rId4" Type="http://schemas.openxmlformats.org/officeDocument/2006/relationships/image" Target="../media/image97.svg"/><Relationship Id="rId3" Type="http://schemas.openxmlformats.org/officeDocument/2006/relationships/image" Target="../media/image96.png"/><Relationship Id="rId2" Type="http://schemas.openxmlformats.org/officeDocument/2006/relationships/image" Target="../media/image95.svg"/><Relationship Id="rId10" Type="http://schemas.openxmlformats.org/officeDocument/2006/relationships/notesSlide" Target="../notesSlides/notesSlide15.xml"/><Relationship Id="rId1" Type="http://schemas.openxmlformats.org/officeDocument/2006/relationships/image" Target="../media/image94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6.xml"/><Relationship Id="rId7" Type="http://schemas.openxmlformats.org/officeDocument/2006/relationships/slideLayout" Target="../slideLayouts/slideLayout12.xml"/><Relationship Id="rId6" Type="http://schemas.openxmlformats.org/officeDocument/2006/relationships/image" Target="../media/image14.svg"/><Relationship Id="rId5" Type="http://schemas.openxmlformats.org/officeDocument/2006/relationships/image" Target="../media/image35.png"/><Relationship Id="rId4" Type="http://schemas.openxmlformats.org/officeDocument/2006/relationships/image" Target="../media/image2.svg"/><Relationship Id="rId3" Type="http://schemas.openxmlformats.org/officeDocument/2006/relationships/image" Target="../media/image51.png"/><Relationship Id="rId2" Type="http://schemas.openxmlformats.org/officeDocument/2006/relationships/image" Target="../media/image91.svg"/><Relationship Id="rId1" Type="http://schemas.openxmlformats.org/officeDocument/2006/relationships/image" Target="../media/image90.png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image" Target="../media/image93.svg"/><Relationship Id="rId7" Type="http://schemas.openxmlformats.org/officeDocument/2006/relationships/image" Target="../media/image92.png"/><Relationship Id="rId6" Type="http://schemas.openxmlformats.org/officeDocument/2006/relationships/image" Target="../media/image106.svg"/><Relationship Id="rId5" Type="http://schemas.openxmlformats.org/officeDocument/2006/relationships/image" Target="../media/image105.png"/><Relationship Id="rId4" Type="http://schemas.openxmlformats.org/officeDocument/2006/relationships/image" Target="../media/image104.svg"/><Relationship Id="rId3" Type="http://schemas.openxmlformats.org/officeDocument/2006/relationships/image" Target="../media/image103.png"/><Relationship Id="rId2" Type="http://schemas.openxmlformats.org/officeDocument/2006/relationships/image" Target="../media/image45.svg"/><Relationship Id="rId10" Type="http://schemas.openxmlformats.org/officeDocument/2006/relationships/notesSlide" Target="../notesSlides/notesSlide17.xml"/><Relationship Id="rId1" Type="http://schemas.openxmlformats.org/officeDocument/2006/relationships/image" Target="../media/image102.png"/></Relationships>
</file>

<file path=ppt/slides/_rels/slide18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image" Target="../media/image31.svg"/><Relationship Id="rId7" Type="http://schemas.openxmlformats.org/officeDocument/2006/relationships/image" Target="../media/image48.png"/><Relationship Id="rId6" Type="http://schemas.openxmlformats.org/officeDocument/2006/relationships/image" Target="../media/image111.svg"/><Relationship Id="rId5" Type="http://schemas.openxmlformats.org/officeDocument/2006/relationships/image" Target="../media/image110.png"/><Relationship Id="rId4" Type="http://schemas.openxmlformats.org/officeDocument/2006/relationships/image" Target="../media/image109.svg"/><Relationship Id="rId3" Type="http://schemas.openxmlformats.org/officeDocument/2006/relationships/image" Target="../media/image108.png"/><Relationship Id="rId2" Type="http://schemas.openxmlformats.org/officeDocument/2006/relationships/image" Target="../media/image41.svg"/><Relationship Id="rId10" Type="http://schemas.openxmlformats.org/officeDocument/2006/relationships/notesSlide" Target="../notesSlides/notesSlide18.xml"/><Relationship Id="rId1" Type="http://schemas.openxmlformats.org/officeDocument/2006/relationships/image" Target="../media/image107.png"/></Relationships>
</file>

<file path=ppt/slides/_rels/slide19.xml.rels><?xml version="1.0" encoding="UTF-8" standalone="yes"?>
<Relationships xmlns="http://schemas.openxmlformats.org/package/2006/relationships"><Relationship Id="rId9" Type="http://schemas.openxmlformats.org/officeDocument/2006/relationships/image" Target="../media/image102.png"/><Relationship Id="rId8" Type="http://schemas.openxmlformats.org/officeDocument/2006/relationships/image" Target="../media/image119.svg"/><Relationship Id="rId7" Type="http://schemas.openxmlformats.org/officeDocument/2006/relationships/image" Target="../media/image118.png"/><Relationship Id="rId6" Type="http://schemas.openxmlformats.org/officeDocument/2006/relationships/image" Target="../media/image117.svg"/><Relationship Id="rId5" Type="http://schemas.openxmlformats.org/officeDocument/2006/relationships/image" Target="../media/image116.png"/><Relationship Id="rId4" Type="http://schemas.openxmlformats.org/officeDocument/2006/relationships/image" Target="../media/image115.svg"/><Relationship Id="rId3" Type="http://schemas.openxmlformats.org/officeDocument/2006/relationships/image" Target="../media/image114.png"/><Relationship Id="rId20" Type="http://schemas.openxmlformats.org/officeDocument/2006/relationships/notesSlide" Target="../notesSlides/notesSlide19.xml"/><Relationship Id="rId2" Type="http://schemas.openxmlformats.org/officeDocument/2006/relationships/image" Target="../media/image113.svg"/><Relationship Id="rId19" Type="http://schemas.openxmlformats.org/officeDocument/2006/relationships/slideLayout" Target="../slideLayouts/slideLayout12.xml"/><Relationship Id="rId18" Type="http://schemas.openxmlformats.org/officeDocument/2006/relationships/image" Target="../media/image33.svg"/><Relationship Id="rId17" Type="http://schemas.openxmlformats.org/officeDocument/2006/relationships/image" Target="../media/image125.png"/><Relationship Id="rId16" Type="http://schemas.openxmlformats.org/officeDocument/2006/relationships/image" Target="../media/image124.svg"/><Relationship Id="rId15" Type="http://schemas.openxmlformats.org/officeDocument/2006/relationships/image" Target="../media/image123.png"/><Relationship Id="rId14" Type="http://schemas.openxmlformats.org/officeDocument/2006/relationships/image" Target="../media/image55.svg"/><Relationship Id="rId13" Type="http://schemas.openxmlformats.org/officeDocument/2006/relationships/image" Target="../media/image122.png"/><Relationship Id="rId12" Type="http://schemas.openxmlformats.org/officeDocument/2006/relationships/image" Target="../media/image121.svg"/><Relationship Id="rId11" Type="http://schemas.openxmlformats.org/officeDocument/2006/relationships/image" Target="../media/image120.png"/><Relationship Id="rId10" Type="http://schemas.openxmlformats.org/officeDocument/2006/relationships/image" Target="../media/image45.svg"/><Relationship Id="rId1" Type="http://schemas.openxmlformats.org/officeDocument/2006/relationships/image" Target="../media/image112.png"/></Relationships>
</file>

<file path=ppt/slides/_rels/slide2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0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50.svg"/><Relationship Id="rId1" Type="http://schemas.openxmlformats.org/officeDocument/2006/relationships/image" Target="../media/image126.png"/></Relationships>
</file>

<file path=ppt/slides/_rels/slide21.xml.rels><?xml version="1.0" encoding="UTF-8" standalone="yes"?>
<Relationships xmlns="http://schemas.openxmlformats.org/package/2006/relationships"><Relationship Id="rId9" Type="http://schemas.openxmlformats.org/officeDocument/2006/relationships/image" Target="../media/image61.png"/><Relationship Id="rId8" Type="http://schemas.openxmlformats.org/officeDocument/2006/relationships/image" Target="../media/image24.svg"/><Relationship Id="rId7" Type="http://schemas.openxmlformats.org/officeDocument/2006/relationships/image" Target="../media/image133.png"/><Relationship Id="rId6" Type="http://schemas.openxmlformats.org/officeDocument/2006/relationships/image" Target="../media/image132.svg"/><Relationship Id="rId5" Type="http://schemas.openxmlformats.org/officeDocument/2006/relationships/image" Target="../media/image131.png"/><Relationship Id="rId4" Type="http://schemas.openxmlformats.org/officeDocument/2006/relationships/image" Target="../media/image130.svg"/><Relationship Id="rId3" Type="http://schemas.openxmlformats.org/officeDocument/2006/relationships/image" Target="../media/image129.png"/><Relationship Id="rId2" Type="http://schemas.openxmlformats.org/officeDocument/2006/relationships/image" Target="../media/image128.svg"/><Relationship Id="rId14" Type="http://schemas.openxmlformats.org/officeDocument/2006/relationships/notesSlide" Target="../notesSlides/notesSlide21.xml"/><Relationship Id="rId13" Type="http://schemas.openxmlformats.org/officeDocument/2006/relationships/slideLayout" Target="../slideLayouts/slideLayout12.xml"/><Relationship Id="rId12" Type="http://schemas.openxmlformats.org/officeDocument/2006/relationships/image" Target="../media/image135.svg"/><Relationship Id="rId11" Type="http://schemas.openxmlformats.org/officeDocument/2006/relationships/image" Target="../media/image134.png"/><Relationship Id="rId10" Type="http://schemas.openxmlformats.org/officeDocument/2006/relationships/image" Target="../media/image37.svg"/><Relationship Id="rId1" Type="http://schemas.openxmlformats.org/officeDocument/2006/relationships/image" Target="../media/image127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22.xml"/><Relationship Id="rId7" Type="http://schemas.openxmlformats.org/officeDocument/2006/relationships/slideLayout" Target="../slideLayouts/slideLayout12.xml"/><Relationship Id="rId6" Type="http://schemas.openxmlformats.org/officeDocument/2006/relationships/image" Target="../media/image24.svg"/><Relationship Id="rId5" Type="http://schemas.openxmlformats.org/officeDocument/2006/relationships/image" Target="../media/image133.png"/><Relationship Id="rId4" Type="http://schemas.openxmlformats.org/officeDocument/2006/relationships/image" Target="../media/image37.svg"/><Relationship Id="rId3" Type="http://schemas.openxmlformats.org/officeDocument/2006/relationships/image" Target="../media/image61.png"/><Relationship Id="rId2" Type="http://schemas.openxmlformats.org/officeDocument/2006/relationships/image" Target="../media/image93.svg"/><Relationship Id="rId1" Type="http://schemas.openxmlformats.org/officeDocument/2006/relationships/image" Target="../media/image92.png"/></Relationships>
</file>

<file path=ppt/slides/_rels/slide23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23.xml"/><Relationship Id="rId6" Type="http://schemas.openxmlformats.org/officeDocument/2006/relationships/slideLayout" Target="../slideLayouts/slideLayout14.xml"/><Relationship Id="rId5" Type="http://schemas.openxmlformats.org/officeDocument/2006/relationships/image" Target="../media/image140.png"/><Relationship Id="rId4" Type="http://schemas.openxmlformats.org/officeDocument/2006/relationships/image" Target="../media/image139.svg"/><Relationship Id="rId3" Type="http://schemas.openxmlformats.org/officeDocument/2006/relationships/image" Target="../media/image138.png"/><Relationship Id="rId2" Type="http://schemas.openxmlformats.org/officeDocument/2006/relationships/image" Target="../media/image137.svg"/><Relationship Id="rId1" Type="http://schemas.openxmlformats.org/officeDocument/2006/relationships/image" Target="../media/image13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0D1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-1270000" y="-1270000"/>
            <a:ext cx="5080000" cy="5080000"/>
          </a:xfrm>
          <a:prstGeom prst="ellipse">
            <a:avLst/>
          </a:prstGeom>
          <a:gradFill rotWithShape="1">
            <a:gsLst>
              <a:gs pos="0">
                <a:srgbClr val="0A2A4E">
                  <a:alpha val="40000"/>
                </a:srgbClr>
              </a:gs>
              <a:gs pos="70000">
                <a:srgbClr val="040D1A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0" y="2540000"/>
            <a:ext cx="6350000" cy="6350000"/>
          </a:xfrm>
          <a:prstGeom prst="ellipse">
            <a:avLst/>
          </a:prstGeom>
          <a:gradFill rotWithShape="1">
            <a:gsLst>
              <a:gs pos="0">
                <a:srgbClr val="00BFFF">
                  <a:alpha val="15000"/>
                </a:srgbClr>
              </a:gs>
              <a:gs pos="70000">
                <a:srgbClr val="040D1A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1016000" y="2032000"/>
            <a:ext cx="1016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新品发布 ·</a:t>
            </a:r>
            <a:r>
              <a:rPr lang="en-US" sz="4000" b="1" i="0" u="none" strike="noStrike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AI增长破局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016000" y="2921000"/>
            <a:ext cx="1016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0" i="0" u="none" strike="noStrike">
                <a:solidFill>
                  <a:srgbClr val="C8D2DC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从流量底层逻辑到商业闭环实战课</a:t>
            </a:r>
            <a:endParaRPr lang="en-US" sz="1100"/>
          </a:p>
        </p:txBody>
      </p:sp>
      <p:cxnSp>
        <p:nvCxnSpPr>
          <p:cNvPr id="6" name="Connector 6"/>
          <p:cNvCxnSpPr/>
          <p:nvPr/>
        </p:nvCxnSpPr>
        <p:spPr>
          <a:xfrm rot="-34376">
            <a:off x="5461032" y="3549650"/>
            <a:ext cx="127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00BFFF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pic>
        <p:nvPicPr>
          <p:cNvPr id="7" name="Picture 7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760595" y="3848100"/>
            <a:ext cx="304800" cy="3048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5256530" y="3778885"/>
            <a:ext cx="381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DCE6F0"/>
                </a:solidFill>
                <a:latin typeface="Noto Sans SC"/>
                <a:ea typeface="Noto Sans SC"/>
                <a:cs typeface="Noto Sans SC"/>
                <a:sym typeface="Noto Sans SC"/>
              </a:rPr>
              <a:t>主讲人：</a:t>
            </a:r>
            <a:r>
              <a:rPr lang="zh-CN" altLang="en-US" sz="1600" b="0" i="0" u="none" strike="noStrike">
                <a:solidFill>
                  <a:srgbClr val="DCE6F0"/>
                </a:solidFill>
                <a:latin typeface="Noto Sans SC"/>
                <a:ea typeface="Noto Sans SC"/>
                <a:cs typeface="Noto Sans SC"/>
                <a:sym typeface="Noto Sans SC"/>
              </a:rPr>
              <a:t>傲雪</a:t>
            </a:r>
            <a:endParaRPr lang="zh-CN" altLang="en-US" sz="1600" b="0" i="0" u="none" strike="noStrike">
              <a:solidFill>
                <a:srgbClr val="DCE6F0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1270000" y="4572000"/>
            <a:ext cx="9652000" cy="762000"/>
          </a:xfrm>
          <a:prstGeom prst="roundRect">
            <a:avLst>
              <a:gd name="adj" fmla="val 16666"/>
            </a:avLst>
          </a:prstGeom>
          <a:solidFill>
            <a:srgbClr val="0A2A4E">
              <a:alpha val="30000"/>
            </a:srgbClr>
          </a:solidFill>
          <a:ln w="12700" cap="flat" cmpd="sng">
            <a:solidFill>
              <a:srgbClr val="00BFFF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651000" y="4826000"/>
            <a:ext cx="254000" cy="2540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1968500" y="4800600"/>
            <a:ext cx="1524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DCE6F0"/>
                </a:solidFill>
                <a:latin typeface="Noto Sans SC"/>
                <a:ea typeface="Noto Sans SC"/>
                <a:cs typeface="Noto Sans SC"/>
                <a:sym typeface="Noto Sans SC"/>
              </a:rPr>
              <a:t>企业创始人</a:t>
            </a:r>
            <a:endParaRPr lang="en-US" sz="1100"/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683000" y="4826000"/>
            <a:ext cx="254000" cy="2540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4000500" y="4800600"/>
            <a:ext cx="1524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DCE6F0"/>
                </a:solidFill>
                <a:latin typeface="Noto Sans SC"/>
                <a:ea typeface="Noto Sans SC"/>
                <a:cs typeface="Noto Sans SC"/>
                <a:sym typeface="Noto Sans SC"/>
              </a:rPr>
              <a:t>品牌负责人</a:t>
            </a:r>
            <a:endParaRPr lang="en-US" sz="1100"/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715000" y="4826000"/>
            <a:ext cx="254000" cy="2540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6032500" y="4800600"/>
            <a:ext cx="1524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DCE6F0"/>
                </a:solidFill>
                <a:latin typeface="Noto Sans SC"/>
                <a:ea typeface="Noto Sans SC"/>
                <a:cs typeface="Noto Sans SC"/>
                <a:sym typeface="Noto Sans SC"/>
              </a:rPr>
              <a:t>增长操盘手</a:t>
            </a:r>
            <a:endParaRPr lang="en-US" sz="1100"/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747000" y="4826000"/>
            <a:ext cx="254000" cy="2540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8064500" y="4800600"/>
            <a:ext cx="1524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DCE6F0"/>
                </a:solidFill>
                <a:latin typeface="Noto Sans SC"/>
                <a:ea typeface="Noto Sans SC"/>
                <a:cs typeface="Noto Sans SC"/>
                <a:sym typeface="Noto Sans SC"/>
              </a:rPr>
              <a:t>营销总监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0D1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AI</a:t>
            </a:r>
            <a:r>
              <a:rPr lang="zh-CN" altLang="en-US" sz="3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时代</a:t>
            </a:r>
            <a:r>
              <a:rPr lang="en-US" sz="3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：你正在遭遇的新品增长困局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524000"/>
            <a:ext cx="3378200" cy="2286000"/>
          </a:xfrm>
          <a:prstGeom prst="roundRect">
            <a:avLst>
              <a:gd name="adj" fmla="val 5555"/>
            </a:avLst>
          </a:prstGeom>
          <a:solidFill>
            <a:srgbClr val="0A2A4E">
              <a:alpha val="100000"/>
            </a:srgbClr>
          </a:solidFill>
          <a:ln cap="flat" cmpd="sng">
            <a:solidFill>
              <a:srgbClr val="011935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6000" y="1778000"/>
            <a:ext cx="406400" cy="4064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1016000" y="2286000"/>
            <a:ext cx="28702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新品上市即滞销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016000" y="2667000"/>
            <a:ext cx="28702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无流量、无曝光、无用户信任，投入大量资源却石沉大海。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4394200" y="1524000"/>
            <a:ext cx="3378200" cy="2286000"/>
          </a:xfrm>
          <a:prstGeom prst="roundRect">
            <a:avLst>
              <a:gd name="adj" fmla="val 5555"/>
            </a:avLst>
          </a:prstGeom>
          <a:solidFill>
            <a:srgbClr val="0A2A4E">
              <a:alpha val="100000"/>
            </a:srgbClr>
          </a:solidFill>
          <a:ln cap="flat" cmpd="sng">
            <a:solidFill>
              <a:srgbClr val="011935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48200" y="1778000"/>
            <a:ext cx="406400" cy="4064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4648200" y="2286000"/>
            <a:ext cx="28702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广告投放成本高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4648200" y="2667000"/>
            <a:ext cx="28702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烧钱换流量，转化差，ROI长期无法打平，陷入“不投没流量，投了没利润”的困境。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8026400" y="1524000"/>
            <a:ext cx="3378200" cy="2286000"/>
          </a:xfrm>
          <a:prstGeom prst="roundRect">
            <a:avLst>
              <a:gd name="adj" fmla="val 5555"/>
            </a:avLst>
          </a:prstGeom>
          <a:solidFill>
            <a:srgbClr val="0A2A4E">
              <a:alpha val="100000"/>
            </a:srgbClr>
          </a:solidFill>
          <a:ln cap="flat" cmpd="sng">
            <a:solidFill>
              <a:srgbClr val="011935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280400" y="1778000"/>
            <a:ext cx="406400" cy="4064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8280400" y="2286000"/>
            <a:ext cx="28702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AI运营无体系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8280400" y="2667000"/>
            <a:ext cx="28702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盲目跟风做AI内容，不懂规则，不仅没效果，还面临“AI投毒”的巨大风险。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762000" y="4064000"/>
            <a:ext cx="3378200" cy="2286000"/>
          </a:xfrm>
          <a:prstGeom prst="roundRect">
            <a:avLst>
              <a:gd name="adj" fmla="val 5555"/>
            </a:avLst>
          </a:prstGeom>
          <a:solidFill>
            <a:srgbClr val="0A2A4E">
              <a:alpha val="100000"/>
            </a:srgbClr>
          </a:solidFill>
          <a:ln cap="flat" cmpd="sng">
            <a:solidFill>
              <a:srgbClr val="011935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16000" y="4318000"/>
            <a:ext cx="406400" cy="4064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1016000" y="4826000"/>
            <a:ext cx="28702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传统方法失效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1016000" y="5207000"/>
            <a:ext cx="28702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SEO周期长，GEO一停就归零，外包团队不可控，核心能力掌握在别人手里。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4394200" y="4064000"/>
            <a:ext cx="3378200" cy="2286000"/>
          </a:xfrm>
          <a:prstGeom prst="roundRect">
            <a:avLst>
              <a:gd name="adj" fmla="val 5555"/>
            </a:avLst>
          </a:prstGeom>
          <a:solidFill>
            <a:srgbClr val="0A2A4E">
              <a:alpha val="100000"/>
            </a:srgbClr>
          </a:solidFill>
          <a:ln cap="flat" cmpd="sng">
            <a:solidFill>
              <a:srgbClr val="011935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648200" y="4318000"/>
            <a:ext cx="406400" cy="406400"/>
          </a:xfrm>
          <a:prstGeom prst="rect">
            <a:avLst/>
          </a:prstGeom>
        </p:spPr>
      </p:pic>
      <p:sp>
        <p:nvSpPr>
          <p:cNvPr id="21" name="AutoShape 21"/>
          <p:cNvSpPr/>
          <p:nvPr/>
        </p:nvSpPr>
        <p:spPr>
          <a:xfrm>
            <a:off x="4648200" y="4826000"/>
            <a:ext cx="28702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产品与需求脱节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4648200" y="5207000"/>
            <a:ext cx="28702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沉迷于技术参数和功能炫技，却没有真正解决用户痛点，产品自嗨，市场不买账。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8026400" y="4064000"/>
            <a:ext cx="3378200" cy="2286000"/>
          </a:xfrm>
          <a:prstGeom prst="roundRect">
            <a:avLst>
              <a:gd name="adj" fmla="val 5555"/>
            </a:avLst>
          </a:prstGeom>
          <a:solidFill>
            <a:srgbClr val="0A2A4E">
              <a:alpha val="50000"/>
            </a:srgbClr>
          </a:solidFill>
          <a:ln w="12700" cap="flat" cmpd="sng">
            <a:solidFill>
              <a:srgbClr val="00BFFF">
                <a:alpha val="100000"/>
              </a:srgbClr>
            </a:solidFill>
            <a:prstDash val="dash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4" name="Picture 24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280400" y="4318000"/>
            <a:ext cx="406400" cy="406400"/>
          </a:xfrm>
          <a:prstGeom prst="rect">
            <a:avLst/>
          </a:prstGeom>
        </p:spPr>
      </p:pic>
      <p:sp>
        <p:nvSpPr>
          <p:cNvPr id="25" name="AutoShape 25"/>
          <p:cNvSpPr/>
          <p:nvPr/>
        </p:nvSpPr>
        <p:spPr>
          <a:xfrm>
            <a:off x="8280400" y="4826000"/>
            <a:ext cx="28702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亟待破局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8280400" y="5207000"/>
            <a:ext cx="28702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这些困局不是孤立的，而是系统性的。本课程将带你重新审视增长逻辑，找到突围之路。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0D1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本课核心价值：你能收获什么？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524000"/>
            <a:ext cx="3378200" cy="2286000"/>
          </a:xfrm>
          <a:prstGeom prst="roundRect">
            <a:avLst>
              <a:gd name="adj" fmla="val 5555"/>
            </a:avLst>
          </a:prstGeom>
          <a:solidFill>
            <a:srgbClr val="0A2A4E">
              <a:alpha val="100000"/>
            </a:srgbClr>
          </a:solidFill>
          <a:ln cap="flat" cmpd="sng">
            <a:solidFill>
              <a:srgbClr val="011935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6000" y="1778000"/>
            <a:ext cx="406400" cy="4064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1524000" y="1778000"/>
            <a:ext cx="241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掌握新品冷启动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016000" y="2222500"/>
            <a:ext cx="28702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学会如何让新品从0到1，低成本、快速地获得第一批种子用户和初始流量。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4406900" y="1524000"/>
            <a:ext cx="3378200" cy="2286000"/>
          </a:xfrm>
          <a:prstGeom prst="roundRect">
            <a:avLst>
              <a:gd name="adj" fmla="val 5555"/>
            </a:avLst>
          </a:prstGeom>
          <a:solidFill>
            <a:srgbClr val="0A2A4E">
              <a:alpha val="100000"/>
            </a:srgbClr>
          </a:solidFill>
          <a:ln cap="flat" cmpd="sng">
            <a:solidFill>
              <a:srgbClr val="011935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60900" y="1778000"/>
            <a:ext cx="406400" cy="4064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5168900" y="1778000"/>
            <a:ext cx="241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看透流量底层逻辑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4660900" y="2222500"/>
            <a:ext cx="28702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彻底理解广告竞价原理，让每一分预算花在刀刃上，实现精准拿流量，投放不亏钱。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8051800" y="1524000"/>
            <a:ext cx="3378200" cy="2286000"/>
          </a:xfrm>
          <a:prstGeom prst="roundRect">
            <a:avLst>
              <a:gd name="adj" fmla="val 5555"/>
            </a:avLst>
          </a:prstGeom>
          <a:solidFill>
            <a:srgbClr val="0A2A4E">
              <a:alpha val="100000"/>
            </a:srgbClr>
          </a:solidFill>
          <a:ln cap="flat" cmpd="sng">
            <a:solidFill>
              <a:srgbClr val="011935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305800" y="1778000"/>
            <a:ext cx="406400" cy="4064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8813800" y="1778000"/>
            <a:ext cx="241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搭建自运营AI体系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8305800" y="2222500"/>
            <a:ext cx="28702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学会搭建品牌自主可控的AI增长体系，</a:t>
            </a:r>
            <a:r>
              <a:rPr lang="zh-CN" altLang="en-US" sz="1400" b="0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把有复利的品牌资产掌握在手</a:t>
            </a:r>
            <a:r>
              <a:rPr lang="en-US" sz="1400" b="0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762000" y="4064000"/>
            <a:ext cx="3378200" cy="2286000"/>
          </a:xfrm>
          <a:prstGeom prst="roundRect">
            <a:avLst>
              <a:gd name="adj" fmla="val 5555"/>
            </a:avLst>
          </a:prstGeom>
          <a:solidFill>
            <a:srgbClr val="0A2A4E">
              <a:alpha val="100000"/>
            </a:srgbClr>
          </a:solidFill>
          <a:ln cap="flat" cmpd="sng">
            <a:solidFill>
              <a:srgbClr val="011935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16000" y="4318000"/>
            <a:ext cx="406400" cy="4064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1524000" y="4318000"/>
            <a:ext cx="241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实现增长可计算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1016000" y="4762500"/>
            <a:ext cx="28702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用量化和风控思维武装自己，让增长不再是碰运气，而是可以计算、放大和复制的科学。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4406900" y="4064000"/>
            <a:ext cx="3378200" cy="2286000"/>
          </a:xfrm>
          <a:prstGeom prst="roundRect">
            <a:avLst>
              <a:gd name="adj" fmla="val 5555"/>
            </a:avLst>
          </a:prstGeom>
          <a:solidFill>
            <a:srgbClr val="0A2A4E">
              <a:alpha val="100000"/>
            </a:srgbClr>
          </a:solidFill>
          <a:ln cap="flat" cmpd="sng">
            <a:solidFill>
              <a:srgbClr val="011935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660900" y="4318000"/>
            <a:ext cx="406400" cy="406400"/>
          </a:xfrm>
          <a:prstGeom prst="rect">
            <a:avLst/>
          </a:prstGeom>
        </p:spPr>
      </p:pic>
      <p:sp>
        <p:nvSpPr>
          <p:cNvPr id="21" name="AutoShape 21"/>
          <p:cNvSpPr/>
          <p:nvPr/>
        </p:nvSpPr>
        <p:spPr>
          <a:xfrm>
            <a:off x="5168900" y="4318000"/>
            <a:ext cx="241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完成商业闭环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4660900" y="4762500"/>
            <a:ext cx="28702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以四大AI增长图谱为核心，打通从内容到转化，再到产品迭代和品牌沉淀的完整商业闭环。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8051800" y="4064000"/>
            <a:ext cx="3378200" cy="2286000"/>
          </a:xfrm>
          <a:prstGeom prst="roundRect">
            <a:avLst>
              <a:gd name="adj" fmla="val 5555"/>
            </a:avLst>
          </a:prstGeom>
          <a:solidFill>
            <a:srgbClr val="0A2A4E">
              <a:alpha val="50000"/>
            </a:srgbClr>
          </a:solidFill>
          <a:ln w="12700" cap="flat" cmpd="sng">
            <a:solidFill>
              <a:srgbClr val="00BFFF">
                <a:alpha val="100000"/>
              </a:srgbClr>
            </a:solidFill>
            <a:prstDash val="dash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4" name="Picture 24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305800" y="4318000"/>
            <a:ext cx="406400" cy="406400"/>
          </a:xfrm>
          <a:prstGeom prst="rect">
            <a:avLst/>
          </a:prstGeom>
        </p:spPr>
      </p:pic>
      <p:sp>
        <p:nvSpPr>
          <p:cNvPr id="25" name="AutoShape 25"/>
          <p:cNvSpPr/>
          <p:nvPr/>
        </p:nvSpPr>
        <p:spPr>
          <a:xfrm>
            <a:off x="8813800" y="4318000"/>
            <a:ext cx="241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核心竞争力构建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8305800" y="4762500"/>
            <a:ext cx="28702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这五个能力将构成你在AI时代新品增长的核心竞争力，助你在激烈的市场竞争中脱颖而出。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0D1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3714115" y="-381000"/>
            <a:ext cx="7620000" cy="7620000"/>
          </a:xfrm>
          <a:prstGeom prst="ellipse">
            <a:avLst/>
          </a:prstGeom>
          <a:gradFill rotWithShape="1">
            <a:gsLst>
              <a:gs pos="0">
                <a:srgbClr val="0A2A4E">
                  <a:alpha val="40000"/>
                </a:srgbClr>
              </a:gs>
              <a:gs pos="70000">
                <a:srgbClr val="040D1A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1788795" y="1842135"/>
            <a:ext cx="12192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9600" b="1" i="0" u="none" strike="noStrike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01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694180" y="3366135"/>
            <a:ext cx="1219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zh-CN" altLang="en-US" sz="3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傲雪</a:t>
            </a:r>
            <a:endParaRPr lang="zh-CN" altLang="en-US" sz="3600" b="1" i="0" u="none" strike="noStrike">
              <a:solidFill>
                <a:srgbClr val="FFFFFF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cxnSp>
        <p:nvCxnSpPr>
          <p:cNvPr id="5" name="Connector 5"/>
          <p:cNvCxnSpPr/>
          <p:nvPr/>
        </p:nvCxnSpPr>
        <p:spPr>
          <a:xfrm rot="-57290">
            <a:off x="7409233" y="4270375"/>
            <a:ext cx="76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00BFFF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6" name="AutoShape 6"/>
          <p:cNvSpPr/>
          <p:nvPr/>
        </p:nvSpPr>
        <p:spPr>
          <a:xfrm>
            <a:off x="2709545" y="4425315"/>
            <a:ext cx="1016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altLang="zh-CN" sz="1600" b="0" i="0" u="none" strike="noStrike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AI</a:t>
            </a:r>
            <a:r>
              <a:rPr lang="zh-CN" altLang="en-US" sz="1600" b="0" i="0" u="none" strike="noStrike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增长破局</a:t>
            </a:r>
            <a:endParaRPr lang="zh-CN" altLang="en-US" sz="1600" b="0" i="0" u="none" strike="noStrike">
              <a:solidFill>
                <a:srgbClr val="FFFFFF">
                  <a:alpha val="70196"/>
                </a:srgbClr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0" y="6807200"/>
            <a:ext cx="12192000" cy="50800"/>
          </a:xfrm>
          <a:prstGeom prst="roundRect">
            <a:avLst>
              <a:gd name="adj" fmla="val 0"/>
            </a:avLst>
          </a:prstGeom>
          <a:solidFill>
            <a:srgbClr val="0A2A4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8" name="图片 7" descr="cf94fc99a19f5f7e0f9f3329ecbc0e3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476885" y="0"/>
            <a:ext cx="51435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0D1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1.1 10</a:t>
            </a:r>
            <a:r>
              <a:rPr lang="zh-CN" altLang="en-US" sz="3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年</a:t>
            </a:r>
            <a:r>
              <a:rPr lang="en-US" altLang="zh-CN" sz="3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AI</a:t>
            </a:r>
            <a:r>
              <a:rPr lang="zh-CN" altLang="en-US" sz="3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跨域全方位</a:t>
            </a:r>
            <a:r>
              <a:rPr lang="zh-CN" altLang="en-US" sz="3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沉淀</a:t>
            </a:r>
            <a:endParaRPr lang="zh-CN" altLang="en-US" sz="3600" b="1" i="0" u="none" strike="noStrike">
              <a:solidFill>
                <a:srgbClr val="FFFFFF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3" name="AutoShape 3"/>
          <p:cNvSpPr/>
          <p:nvPr/>
        </p:nvSpPr>
        <p:spPr>
          <a:xfrm>
            <a:off x="762000" y="1651000"/>
            <a:ext cx="5207000" cy="2286000"/>
          </a:xfrm>
          <a:prstGeom prst="roundRect">
            <a:avLst>
              <a:gd name="adj" fmla="val 5555"/>
            </a:avLst>
          </a:prstGeom>
          <a:solidFill>
            <a:srgbClr val="0A2A4E">
              <a:alpha val="100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6000" y="1905000"/>
            <a:ext cx="406400" cy="4064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1524000" y="1879600"/>
            <a:ext cx="4191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广告竞价与全链路投放</a:t>
            </a:r>
            <a:endParaRPr lang="en-US" sz="1100"/>
          </a:p>
        </p:txBody>
      </p:sp>
      <p:cxnSp>
        <p:nvCxnSpPr>
          <p:cNvPr id="6" name="Connector 6"/>
          <p:cNvCxnSpPr/>
          <p:nvPr/>
        </p:nvCxnSpPr>
        <p:spPr>
          <a:xfrm rot="-9291">
            <a:off x="1016009" y="2406650"/>
            <a:ext cx="4699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" name="AutoShape 7"/>
          <p:cNvSpPr/>
          <p:nvPr/>
        </p:nvSpPr>
        <p:spPr>
          <a:xfrm>
            <a:off x="1016000" y="2540000"/>
            <a:ext cx="4699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177800" indent="-177800" algn="l">
              <a:lnSpc>
                <a:spcPct val="125000"/>
              </a:lnSpc>
              <a:buClr>
                <a:srgbClr val="FFFFFF"/>
              </a:buClr>
              <a:buChar char="•"/>
              <a:defRPr/>
            </a:pPr>
            <a:r>
              <a:rPr lang="en-US" sz="1400" b="0" i="0" u="none" strike="noStrike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深耕广告机制、竞价策略、投放优化及ROI闭环</a:t>
            </a:r>
            <a:endParaRPr lang="en-US" sz="1100"/>
          </a:p>
          <a:p>
            <a:pPr marL="177800" indent="-177800" algn="l">
              <a:lnSpc>
                <a:spcPct val="125000"/>
              </a:lnSpc>
              <a:buClr>
                <a:srgbClr val="FFFFFF"/>
              </a:buClr>
              <a:buChar char="•"/>
            </a:pPr>
            <a:r>
              <a:rPr lang="en-US" sz="1400" b="0" i="0" u="none" strike="noStrike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懂流量来源与竞争逻辑，实现投放盈利</a:t>
            </a:r>
            <a:endParaRPr lang="en-US" sz="1400" b="0" i="0" u="none" strike="noStrike">
              <a:solidFill>
                <a:srgbClr val="FFFFFF">
                  <a:alpha val="70196"/>
                </a:srgbClr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6223000" y="1651000"/>
            <a:ext cx="5207000" cy="2286000"/>
          </a:xfrm>
          <a:prstGeom prst="roundRect">
            <a:avLst>
              <a:gd name="adj" fmla="val 5555"/>
            </a:avLst>
          </a:prstGeom>
          <a:solidFill>
            <a:srgbClr val="0A2A4E">
              <a:alpha val="100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77000" y="1905000"/>
            <a:ext cx="406400" cy="4064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6985000" y="1879600"/>
            <a:ext cx="4191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金融量化与风控建模</a:t>
            </a:r>
            <a:endParaRPr lang="en-US" sz="1100"/>
          </a:p>
        </p:txBody>
      </p:sp>
      <p:cxnSp>
        <p:nvCxnSpPr>
          <p:cNvPr id="11" name="Connector 11"/>
          <p:cNvCxnSpPr/>
          <p:nvPr/>
        </p:nvCxnSpPr>
        <p:spPr>
          <a:xfrm rot="-9291">
            <a:off x="6477009" y="2406650"/>
            <a:ext cx="4699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" name="AutoShape 12"/>
          <p:cNvSpPr/>
          <p:nvPr/>
        </p:nvSpPr>
        <p:spPr>
          <a:xfrm>
            <a:off x="6477000" y="2540000"/>
            <a:ext cx="4699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177800" indent="-177800" algn="l">
              <a:lnSpc>
                <a:spcPct val="125000"/>
              </a:lnSpc>
              <a:buClr>
                <a:srgbClr val="FFFFFF"/>
              </a:buClr>
              <a:buChar char="•"/>
              <a:defRPr/>
            </a:pPr>
            <a:r>
              <a:rPr lang="en-US" sz="1400" b="0" i="0" u="none" strike="noStrike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擅长数据建模、成本核算、风险控制与盈利测算</a:t>
            </a:r>
            <a:endParaRPr lang="en-US" sz="1100"/>
          </a:p>
          <a:p>
            <a:pPr marL="177800" indent="-177800" algn="l">
              <a:lnSpc>
                <a:spcPct val="125000"/>
              </a:lnSpc>
              <a:buClr>
                <a:srgbClr val="FFFFFF"/>
              </a:buClr>
              <a:buChar char="•"/>
            </a:pPr>
            <a:r>
              <a:rPr lang="en-US" sz="1400" b="0" i="0" u="none" strike="noStrike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基于概率与模型决策，拒绝盲目烧钱</a:t>
            </a:r>
            <a:endParaRPr lang="en-US" sz="1400" b="0" i="0" u="none" strike="noStrike">
              <a:solidFill>
                <a:srgbClr val="FFFFFF">
                  <a:alpha val="70196"/>
                </a:srgbClr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762000" y="4191000"/>
            <a:ext cx="5207000" cy="2286000"/>
          </a:xfrm>
          <a:prstGeom prst="roundRect">
            <a:avLst>
              <a:gd name="adj" fmla="val 5555"/>
            </a:avLst>
          </a:prstGeom>
          <a:solidFill>
            <a:srgbClr val="0A2A4E">
              <a:alpha val="100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16000" y="4445000"/>
            <a:ext cx="406400" cy="4064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1524000" y="4419600"/>
            <a:ext cx="4191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企业分析与商业诊断</a:t>
            </a:r>
            <a:endParaRPr lang="en-US" sz="1100"/>
          </a:p>
        </p:txBody>
      </p:sp>
      <p:cxnSp>
        <p:nvCxnSpPr>
          <p:cNvPr id="16" name="Connector 16"/>
          <p:cNvCxnSpPr/>
          <p:nvPr/>
        </p:nvCxnSpPr>
        <p:spPr>
          <a:xfrm rot="-9291">
            <a:off x="1016009" y="4946650"/>
            <a:ext cx="4699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" name="AutoShape 17"/>
          <p:cNvSpPr/>
          <p:nvPr/>
        </p:nvSpPr>
        <p:spPr>
          <a:xfrm>
            <a:off x="1016000" y="5080000"/>
            <a:ext cx="4699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177800" indent="-177800" algn="l">
              <a:lnSpc>
                <a:spcPct val="125000"/>
              </a:lnSpc>
              <a:buClr>
                <a:srgbClr val="FFFFFF"/>
              </a:buClr>
              <a:buChar char="•"/>
              <a:defRPr/>
            </a:pPr>
            <a:r>
              <a:rPr lang="en-US" sz="1400" b="0" i="0" u="none" strike="noStrike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精通商业模式、产品定位、用户真需求挖掘</a:t>
            </a:r>
            <a:endParaRPr lang="en-US" sz="1100"/>
          </a:p>
          <a:p>
            <a:pPr marL="177800" indent="-177800" algn="l">
              <a:lnSpc>
                <a:spcPct val="125000"/>
              </a:lnSpc>
              <a:buClr>
                <a:srgbClr val="FFFFFF"/>
              </a:buClr>
              <a:buChar char="•"/>
            </a:pPr>
            <a:r>
              <a:rPr lang="en-US" sz="1400" b="0" i="0" u="none" strike="noStrike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洞察生意本质，精准定位市场破局点</a:t>
            </a:r>
            <a:endParaRPr lang="en-US" sz="1400" b="0" i="0" u="none" strike="noStrike">
              <a:solidFill>
                <a:srgbClr val="FFFFFF">
                  <a:alpha val="70196"/>
                </a:srgbClr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8" name="AutoShape 18"/>
          <p:cNvSpPr/>
          <p:nvPr/>
        </p:nvSpPr>
        <p:spPr>
          <a:xfrm>
            <a:off x="6223000" y="4191000"/>
            <a:ext cx="5207000" cy="2286000"/>
          </a:xfrm>
          <a:prstGeom prst="roundRect">
            <a:avLst>
              <a:gd name="adj" fmla="val 5555"/>
            </a:avLst>
          </a:prstGeom>
          <a:solidFill>
            <a:srgbClr val="0A2A4E">
              <a:alpha val="100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477000" y="4445000"/>
            <a:ext cx="406400" cy="406400"/>
          </a:xfrm>
          <a:prstGeom prst="rect">
            <a:avLst/>
          </a:prstGeom>
        </p:spPr>
      </p:pic>
      <p:sp>
        <p:nvSpPr>
          <p:cNvPr id="20" name="AutoShape 20"/>
          <p:cNvSpPr/>
          <p:nvPr/>
        </p:nvSpPr>
        <p:spPr>
          <a:xfrm>
            <a:off x="6985000" y="4419600"/>
            <a:ext cx="4191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品牌营销与AI增长专家</a:t>
            </a:r>
            <a:endParaRPr lang="en-US" sz="1100"/>
          </a:p>
        </p:txBody>
      </p:sp>
      <p:cxnSp>
        <p:nvCxnSpPr>
          <p:cNvPr id="21" name="Connector 21"/>
          <p:cNvCxnSpPr/>
          <p:nvPr/>
        </p:nvCxnSpPr>
        <p:spPr>
          <a:xfrm rot="-9291">
            <a:off x="6477009" y="4946650"/>
            <a:ext cx="4699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2" name="AutoShape 22"/>
          <p:cNvSpPr/>
          <p:nvPr/>
        </p:nvSpPr>
        <p:spPr>
          <a:xfrm>
            <a:off x="6477000" y="5080000"/>
            <a:ext cx="4699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177800" indent="-177800" algn="l">
              <a:lnSpc>
                <a:spcPct val="125000"/>
              </a:lnSpc>
              <a:buClr>
                <a:srgbClr val="FFFFFF"/>
              </a:buClr>
              <a:buChar char="•"/>
              <a:defRPr/>
            </a:pPr>
            <a:r>
              <a:rPr lang="en-US" sz="1400" b="0" i="0" u="none" strike="noStrike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专注AI全域增长、新品破局、图谱系统搭建</a:t>
            </a:r>
            <a:endParaRPr lang="en-US" sz="1100"/>
          </a:p>
          <a:p>
            <a:pPr marL="177800" indent="-177800" algn="l">
              <a:lnSpc>
                <a:spcPct val="125000"/>
              </a:lnSpc>
              <a:buClr>
                <a:srgbClr val="FFFFFF"/>
              </a:buClr>
              <a:buChar char="•"/>
            </a:pPr>
            <a:r>
              <a:rPr lang="en-US" sz="1400" b="0" i="0" u="none" strike="noStrike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掌握AI时代游戏规则，助力新品从冷启动到爆发</a:t>
            </a:r>
            <a:endParaRPr lang="en-US" sz="1400" b="0" i="0" u="none" strike="noStrike">
              <a:solidFill>
                <a:srgbClr val="FFFFFF">
                  <a:alpha val="70196"/>
                </a:srgbClr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0D1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1.3 本课核心逻辑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2032000"/>
            <a:ext cx="1905000" cy="3302000"/>
          </a:xfrm>
          <a:prstGeom prst="roundRect">
            <a:avLst>
              <a:gd name="adj" fmla="val 6666"/>
            </a:avLst>
          </a:prstGeom>
          <a:solidFill>
            <a:srgbClr val="0A2A4E">
              <a:alpha val="100000"/>
            </a:srgbClr>
          </a:solidFill>
          <a:ln w="12700" cap="flat" cmpd="sng">
            <a:solidFill>
              <a:srgbClr val="00BFFF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333500" y="2413000"/>
            <a:ext cx="762000" cy="7620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889000" y="3302000"/>
            <a:ext cx="165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1. 抓真需求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889000" y="3810000"/>
            <a:ext cx="1651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回归商业本质，挖掘用户真实痛点与核心诉求</a:t>
            </a:r>
            <a:endParaRPr lang="en-US" sz="1100"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730500" y="3429000"/>
            <a:ext cx="304800" cy="3048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3098800" y="2032000"/>
            <a:ext cx="1905000" cy="3302000"/>
          </a:xfrm>
          <a:prstGeom prst="roundRect">
            <a:avLst>
              <a:gd name="adj" fmla="val 6666"/>
            </a:avLst>
          </a:prstGeom>
          <a:solidFill>
            <a:srgbClr val="0A2A4E">
              <a:alpha val="100000"/>
            </a:srgbClr>
          </a:solidFill>
          <a:ln w="12700" cap="flat" cmpd="sng">
            <a:solidFill>
              <a:srgbClr val="00BFFF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670300" y="2413000"/>
            <a:ext cx="762000" cy="7620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3225800" y="3302000"/>
            <a:ext cx="165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2. 懂流量底层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3225800" y="3810000"/>
            <a:ext cx="1651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理解流量分发机制，掌握获取流量的底层逻辑</a:t>
            </a:r>
            <a:endParaRPr lang="en-US" sz="1100"/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067300" y="3429000"/>
            <a:ext cx="304800" cy="3048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5435600" y="2032000"/>
            <a:ext cx="1905000" cy="3302000"/>
          </a:xfrm>
          <a:prstGeom prst="roundRect">
            <a:avLst>
              <a:gd name="adj" fmla="val 6666"/>
            </a:avLst>
          </a:prstGeom>
          <a:solidFill>
            <a:srgbClr val="0A2A4E">
              <a:alpha val="100000"/>
            </a:srgbClr>
          </a:solidFill>
          <a:ln w="12700" cap="flat" cmpd="sng">
            <a:solidFill>
              <a:srgbClr val="00BFFF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007100" y="2413000"/>
            <a:ext cx="762000" cy="7620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5562600" y="3302000"/>
            <a:ext cx="165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3. 量化</a:t>
            </a:r>
            <a:r>
              <a:rPr lang="zh-CN" altLang="en-US" sz="20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思维</a:t>
            </a:r>
            <a:endParaRPr lang="zh-CN" altLang="en-US" sz="2000" b="1" i="0" u="none" strike="noStrike">
              <a:solidFill>
                <a:srgbClr val="FFFFFF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6" name="AutoShape 16"/>
          <p:cNvSpPr/>
          <p:nvPr/>
        </p:nvSpPr>
        <p:spPr>
          <a:xfrm>
            <a:off x="5562600" y="3810000"/>
            <a:ext cx="1651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zh-CN" altLang="en-US" sz="1400" b="0" i="0" u="none" strike="noStrike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全链路</a:t>
            </a:r>
            <a:r>
              <a:rPr lang="en-US" sz="1400" b="0" i="0" u="none" strike="noStrike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量化思维为业务增长保驾护航</a:t>
            </a:r>
            <a:endParaRPr lang="en-US" sz="1100"/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404100" y="3429000"/>
            <a:ext cx="304800" cy="3048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7772400" y="2032000"/>
            <a:ext cx="1905000" cy="3302000"/>
          </a:xfrm>
          <a:prstGeom prst="roundRect">
            <a:avLst>
              <a:gd name="adj" fmla="val 6666"/>
            </a:avLst>
          </a:prstGeom>
          <a:solidFill>
            <a:srgbClr val="0A2A4E">
              <a:alpha val="100000"/>
            </a:srgbClr>
          </a:solidFill>
          <a:ln w="12700" cap="flat" cmpd="sng">
            <a:solidFill>
              <a:srgbClr val="00BFFF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343900" y="2413000"/>
            <a:ext cx="762000" cy="762000"/>
          </a:xfrm>
          <a:prstGeom prst="rect">
            <a:avLst/>
          </a:prstGeom>
        </p:spPr>
      </p:pic>
      <p:sp>
        <p:nvSpPr>
          <p:cNvPr id="20" name="AutoShape 20"/>
          <p:cNvSpPr/>
          <p:nvPr/>
        </p:nvSpPr>
        <p:spPr>
          <a:xfrm>
            <a:off x="7899400" y="3302000"/>
            <a:ext cx="165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4. AI系统放大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7899400" y="3810000"/>
            <a:ext cx="1651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利用AI工具提升效率，实现规模化的增长复制</a:t>
            </a:r>
            <a:endParaRPr lang="en-US" sz="1100"/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740900" y="3429000"/>
            <a:ext cx="304800" cy="304800"/>
          </a:xfrm>
          <a:prstGeom prst="rect">
            <a:avLst/>
          </a:prstGeom>
        </p:spPr>
      </p:pic>
      <p:sp>
        <p:nvSpPr>
          <p:cNvPr id="23" name="AutoShape 23"/>
          <p:cNvSpPr/>
          <p:nvPr/>
        </p:nvSpPr>
        <p:spPr>
          <a:xfrm>
            <a:off x="10126345" y="2032000"/>
            <a:ext cx="1651635" cy="3302000"/>
          </a:xfrm>
          <a:prstGeom prst="roundRect">
            <a:avLst>
              <a:gd name="adj" fmla="val 9615"/>
            </a:avLst>
          </a:prstGeom>
          <a:solidFill>
            <a:srgbClr val="0A2A4E">
              <a:alpha val="100000"/>
            </a:srgbClr>
          </a:solidFill>
          <a:ln w="12700" cap="flat" cmpd="sng">
            <a:solidFill>
              <a:srgbClr val="00BFFF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4" name="Picture 24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0720070" y="2413000"/>
            <a:ext cx="508000" cy="508000"/>
          </a:xfrm>
          <a:prstGeom prst="rect">
            <a:avLst/>
          </a:prstGeom>
        </p:spPr>
      </p:pic>
      <p:sp>
        <p:nvSpPr>
          <p:cNvPr id="25" name="AutoShape 25"/>
          <p:cNvSpPr/>
          <p:nvPr/>
        </p:nvSpPr>
        <p:spPr>
          <a:xfrm>
            <a:off x="10172700" y="3302000"/>
            <a:ext cx="141351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5. 商业闭环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10109200" y="3810000"/>
            <a:ext cx="141351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实现从流量到变现的完整商业价值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0D1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-1270000" y="-1270000"/>
            <a:ext cx="5080000" cy="5080000"/>
          </a:xfrm>
          <a:prstGeom prst="ellipse">
            <a:avLst/>
          </a:prstGeom>
          <a:solidFill>
            <a:srgbClr val="00BFFF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0" y="3175000"/>
            <a:ext cx="6350000" cy="6350000"/>
          </a:xfrm>
          <a:prstGeom prst="ellipse">
            <a:avLst/>
          </a:prstGeom>
          <a:solidFill>
            <a:srgbClr val="0A2A4E">
              <a:alpha val="2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0" y="1651000"/>
            <a:ext cx="12192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9600" b="1" i="0" u="none" strike="noStrike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02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0" y="3175000"/>
            <a:ext cx="1219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zh-CN" altLang="en-US" sz="3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内容投放</a:t>
            </a:r>
            <a:endParaRPr lang="en-US" sz="1100"/>
          </a:p>
        </p:txBody>
      </p:sp>
      <p:cxnSp>
        <p:nvCxnSpPr>
          <p:cNvPr id="6" name="Connector 6"/>
          <p:cNvCxnSpPr/>
          <p:nvPr/>
        </p:nvCxnSpPr>
        <p:spPr>
          <a:xfrm rot="-57290">
            <a:off x="5715053" y="4057650"/>
            <a:ext cx="76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38100" cap="flat" cmpd="sng">
            <a:solidFill>
              <a:srgbClr val="00BFFF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7" name="AutoShape 7"/>
          <p:cNvSpPr/>
          <p:nvPr/>
        </p:nvSpPr>
        <p:spPr>
          <a:xfrm>
            <a:off x="0" y="4254500"/>
            <a:ext cx="1219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0" i="0" u="none" strike="noStrike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增长的源头</a:t>
            </a:r>
            <a:r>
              <a:rPr lang="zh-CN" altLang="en-US" sz="1800" b="0" i="0" u="none" strike="noStrike">
                <a:solidFill>
                  <a:srgbClr val="FFFFFF">
                    <a:alpha val="70196"/>
                  </a:srgbClr>
                </a:solidFill>
                <a:latin typeface="Noto Sans SC"/>
                <a:ea typeface="宋体" charset="0"/>
                <a:cs typeface="Noto Sans SC"/>
                <a:sym typeface="Noto Sans SC"/>
              </a:rPr>
              <a:t>：</a:t>
            </a:r>
            <a:r>
              <a:rPr lang="zh-CN" altLang="en-US" sz="1800" b="0" i="0" u="none" strike="noStrike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来自被精准</a:t>
            </a:r>
            <a:r>
              <a:rPr lang="zh-CN" altLang="en-US" sz="1800" b="0" i="0" u="none" strike="noStrike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看到</a:t>
            </a:r>
            <a:endParaRPr lang="zh-CN" altLang="en-US" sz="1800" b="0" i="0" u="none" strike="noStrike">
              <a:solidFill>
                <a:srgbClr val="FFFFFF">
                  <a:alpha val="70196"/>
                </a:srgbClr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943600" y="5715000"/>
            <a:ext cx="304800" cy="304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0D1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2.1 广告展现的三大核心决定要素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651000"/>
            <a:ext cx="3302000" cy="4318000"/>
          </a:xfrm>
          <a:prstGeom prst="roundRect">
            <a:avLst>
              <a:gd name="adj" fmla="val 3846"/>
            </a:avLst>
          </a:prstGeom>
          <a:solidFill>
            <a:srgbClr val="0A2A4E">
              <a:alpha val="100000"/>
            </a:srgbClr>
          </a:solidFill>
          <a:ln cap="flat" cmpd="sng">
            <a:solidFill>
              <a:srgbClr val="011935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66800" y="1955800"/>
            <a:ext cx="609600" cy="6096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1066800" y="2667000"/>
            <a:ext cx="26924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01 用户画像</a:t>
            </a:r>
            <a:endParaRPr lang="en-US" sz="1100"/>
          </a:p>
        </p:txBody>
      </p:sp>
      <p:cxnSp>
        <p:nvCxnSpPr>
          <p:cNvPr id="6" name="Connector 6"/>
          <p:cNvCxnSpPr/>
          <p:nvPr/>
        </p:nvCxnSpPr>
        <p:spPr>
          <a:xfrm rot="-16215">
            <a:off x="1066815" y="3105150"/>
            <a:ext cx="2692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" name="AutoShape 7"/>
          <p:cNvSpPr/>
          <p:nvPr/>
        </p:nvSpPr>
        <p:spPr>
          <a:xfrm>
            <a:off x="1066800" y="3238500"/>
            <a:ext cx="2692400" cy="241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系统通过User ID、浏览行为、兴趣标签等数据，精准判断用户属性与潜在需求，实现“知人”。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4445000" y="1651000"/>
            <a:ext cx="3302000" cy="4318000"/>
          </a:xfrm>
          <a:prstGeom prst="roundRect">
            <a:avLst>
              <a:gd name="adj" fmla="val 3846"/>
            </a:avLst>
          </a:prstGeom>
          <a:solidFill>
            <a:srgbClr val="0A2A4E">
              <a:alpha val="100000"/>
            </a:srgbClr>
          </a:solidFill>
          <a:ln cap="flat" cmpd="sng">
            <a:solidFill>
              <a:srgbClr val="011935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49800" y="1955800"/>
            <a:ext cx="609600" cy="6096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4749800" y="2667000"/>
            <a:ext cx="26924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02 广告位场景</a:t>
            </a:r>
            <a:endParaRPr lang="en-US" sz="1100"/>
          </a:p>
        </p:txBody>
      </p:sp>
      <p:cxnSp>
        <p:nvCxnSpPr>
          <p:cNvPr id="11" name="Connector 11"/>
          <p:cNvCxnSpPr/>
          <p:nvPr/>
        </p:nvCxnSpPr>
        <p:spPr>
          <a:xfrm rot="-16215">
            <a:off x="4749815" y="3105150"/>
            <a:ext cx="2692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" name="AutoShape 12"/>
          <p:cNvSpPr/>
          <p:nvPr/>
        </p:nvSpPr>
        <p:spPr>
          <a:xfrm>
            <a:off x="4749800" y="3238500"/>
            <a:ext cx="2692400" cy="241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广告出现的平台与具体位置（如视频片头或信息流侧边栏），直接决定了流量的质量和用户的注意力分配。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8128000" y="1651000"/>
            <a:ext cx="3302000" cy="4318000"/>
          </a:xfrm>
          <a:prstGeom prst="roundRect">
            <a:avLst>
              <a:gd name="adj" fmla="val 3846"/>
            </a:avLst>
          </a:prstGeom>
          <a:solidFill>
            <a:srgbClr val="0A2A4E">
              <a:alpha val="100000"/>
            </a:srgbClr>
          </a:solidFill>
          <a:ln cap="flat" cmpd="sng">
            <a:solidFill>
              <a:srgbClr val="011935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432800" y="1955800"/>
            <a:ext cx="609600" cy="6096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8432800" y="2667000"/>
            <a:ext cx="26924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03 </a:t>
            </a:r>
            <a:r>
              <a:rPr lang="zh-CN" altLang="en-US" sz="20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产品</a:t>
            </a:r>
            <a:r>
              <a:rPr lang="zh-CN" altLang="en-US" sz="20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本身</a:t>
            </a:r>
            <a:endParaRPr lang="zh-CN" altLang="en-US" sz="2000" b="1" i="0" u="none" strike="noStrike">
              <a:solidFill>
                <a:srgbClr val="FFFFFF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cxnSp>
        <p:nvCxnSpPr>
          <p:cNvPr id="16" name="Connector 16"/>
          <p:cNvCxnSpPr/>
          <p:nvPr/>
        </p:nvCxnSpPr>
        <p:spPr>
          <a:xfrm rot="-16215">
            <a:off x="8432815" y="3105150"/>
            <a:ext cx="2692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" name="AutoShape 17"/>
          <p:cNvSpPr/>
          <p:nvPr/>
        </p:nvSpPr>
        <p:spPr>
          <a:xfrm>
            <a:off x="8432800" y="3238500"/>
            <a:ext cx="2692400" cy="241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核心环节。系统根据出价策略与广告质量度，在毫秒间完成多广告主的竞争排序，决定最终的展示胜出者。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0D1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2.2 广告生态四大核心角色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524000"/>
            <a:ext cx="5207000" cy="2286000"/>
          </a:xfrm>
          <a:prstGeom prst="roundRect">
            <a:avLst>
              <a:gd name="adj" fmla="val 5555"/>
            </a:avLst>
          </a:prstGeom>
          <a:solidFill>
            <a:srgbClr val="0A2A4E">
              <a:alpha val="100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6000" y="1778000"/>
            <a:ext cx="406400" cy="4064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1524000" y="1752600"/>
            <a:ext cx="4191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用户 (User)</a:t>
            </a:r>
            <a:endParaRPr lang="en-US" sz="1100"/>
          </a:p>
        </p:txBody>
      </p:sp>
      <p:cxnSp>
        <p:nvCxnSpPr>
          <p:cNvPr id="6" name="Connector 6"/>
          <p:cNvCxnSpPr/>
          <p:nvPr/>
        </p:nvCxnSpPr>
        <p:spPr>
          <a:xfrm rot="-9291">
            <a:off x="1016009" y="2216150"/>
            <a:ext cx="4699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" name="AutoShape 7"/>
          <p:cNvSpPr/>
          <p:nvPr/>
        </p:nvSpPr>
        <p:spPr>
          <a:xfrm>
            <a:off x="1016000" y="2349500"/>
            <a:ext cx="4699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需求的发起者，内容的消费者，也是广告的最终受众。在生态中处于核心接收端。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6223000" y="1524000"/>
            <a:ext cx="5207000" cy="2286000"/>
          </a:xfrm>
          <a:prstGeom prst="roundRect">
            <a:avLst>
              <a:gd name="adj" fmla="val 5555"/>
            </a:avLst>
          </a:prstGeom>
          <a:solidFill>
            <a:srgbClr val="0A2A4E">
              <a:alpha val="100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77000" y="1778000"/>
            <a:ext cx="406400" cy="4064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6985000" y="1752600"/>
            <a:ext cx="4191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广告联盟 (Ad Network)</a:t>
            </a:r>
            <a:endParaRPr lang="en-US" sz="1100"/>
          </a:p>
        </p:txBody>
      </p:sp>
      <p:cxnSp>
        <p:nvCxnSpPr>
          <p:cNvPr id="11" name="Connector 11"/>
          <p:cNvCxnSpPr/>
          <p:nvPr/>
        </p:nvCxnSpPr>
        <p:spPr>
          <a:xfrm rot="-9291">
            <a:off x="6477009" y="2216150"/>
            <a:ext cx="4699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" name="AutoShape 12"/>
          <p:cNvSpPr/>
          <p:nvPr/>
        </p:nvSpPr>
        <p:spPr>
          <a:xfrm>
            <a:off x="6477000" y="2349500"/>
            <a:ext cx="4699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连接用户和广告主的桥梁，掌握海量广告位资源，提供用户画像与场景数据支持。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762000" y="4064000"/>
            <a:ext cx="5207000" cy="2286000"/>
          </a:xfrm>
          <a:prstGeom prst="roundRect">
            <a:avLst>
              <a:gd name="adj" fmla="val 5555"/>
            </a:avLst>
          </a:prstGeom>
          <a:solidFill>
            <a:srgbClr val="0A2A4E">
              <a:alpha val="100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16000" y="4318000"/>
            <a:ext cx="406400" cy="4064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1524000" y="4292600"/>
            <a:ext cx="4191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品牌方 (Advertiser)</a:t>
            </a:r>
            <a:endParaRPr lang="en-US" sz="1100"/>
          </a:p>
        </p:txBody>
      </p:sp>
      <p:cxnSp>
        <p:nvCxnSpPr>
          <p:cNvPr id="16" name="Connector 16"/>
          <p:cNvCxnSpPr/>
          <p:nvPr/>
        </p:nvCxnSpPr>
        <p:spPr>
          <a:xfrm rot="-9291">
            <a:off x="1016009" y="4756150"/>
            <a:ext cx="4699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" name="AutoShape 17"/>
          <p:cNvSpPr/>
          <p:nvPr/>
        </p:nvSpPr>
        <p:spPr>
          <a:xfrm>
            <a:off x="1016000" y="4889500"/>
            <a:ext cx="4699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付费方与需求方，目标是通过广告投放获得曝光、点击和转化，提升品牌价值。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6223000" y="4064000"/>
            <a:ext cx="5207000" cy="2286000"/>
          </a:xfrm>
          <a:prstGeom prst="roundRect">
            <a:avLst>
              <a:gd name="adj" fmla="val 5555"/>
            </a:avLst>
          </a:prstGeom>
          <a:solidFill>
            <a:srgbClr val="0A2A4E">
              <a:alpha val="100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477000" y="4318000"/>
            <a:ext cx="406400" cy="406400"/>
          </a:xfrm>
          <a:prstGeom prst="rect">
            <a:avLst/>
          </a:prstGeom>
        </p:spPr>
      </p:pic>
      <p:sp>
        <p:nvSpPr>
          <p:cNvPr id="20" name="AutoShape 20"/>
          <p:cNvSpPr/>
          <p:nvPr/>
        </p:nvSpPr>
        <p:spPr>
          <a:xfrm>
            <a:off x="6985000" y="4292600"/>
            <a:ext cx="4191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竞价投放方 (Agency)</a:t>
            </a:r>
            <a:endParaRPr lang="en-US" sz="1100"/>
          </a:p>
        </p:txBody>
      </p:sp>
      <p:cxnSp>
        <p:nvCxnSpPr>
          <p:cNvPr id="21" name="Connector 21"/>
          <p:cNvCxnSpPr/>
          <p:nvPr/>
        </p:nvCxnSpPr>
        <p:spPr>
          <a:xfrm rot="-9291">
            <a:off x="6477009" y="4756150"/>
            <a:ext cx="4699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2" name="AutoShape 22"/>
          <p:cNvSpPr/>
          <p:nvPr/>
        </p:nvSpPr>
        <p:spPr>
          <a:xfrm>
            <a:off x="6477000" y="4889500"/>
            <a:ext cx="4699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专业投放团队，负责制定策略、设置出价及优化效果，确保广告主的投入产出比。</a:t>
            </a:r>
            <a:endParaRPr lang="en-US" sz="11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0D1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2.2 KOL</a:t>
            </a:r>
            <a:r>
              <a:rPr lang="zh-CN" altLang="en-US" sz="3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投放</a:t>
            </a:r>
            <a:r>
              <a:rPr lang="en-US" altLang="zh-CN" sz="3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（</a:t>
            </a:r>
            <a:r>
              <a:rPr lang="zh-CN" altLang="en-US" sz="3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策略判断</a:t>
            </a:r>
            <a:r>
              <a:rPr lang="en-US" altLang="zh-CN" sz="3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）</a:t>
            </a:r>
            <a:endParaRPr lang="en-US" altLang="zh-CN" sz="3600" b="1" i="0" u="none" strike="noStrike">
              <a:solidFill>
                <a:srgbClr val="FFFFFF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3" name="AutoShape 3"/>
          <p:cNvSpPr/>
          <p:nvPr/>
        </p:nvSpPr>
        <p:spPr>
          <a:xfrm>
            <a:off x="762000" y="1524000"/>
            <a:ext cx="5207000" cy="2286000"/>
          </a:xfrm>
          <a:prstGeom prst="roundRect">
            <a:avLst>
              <a:gd name="adj" fmla="val 5555"/>
            </a:avLst>
          </a:prstGeom>
          <a:solidFill>
            <a:srgbClr val="0A2A4E">
              <a:alpha val="100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6000" y="1778000"/>
            <a:ext cx="406400" cy="4064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1524000" y="1752600"/>
            <a:ext cx="4191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altLang="zh-CN" sz="20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KOL</a:t>
            </a:r>
            <a:endParaRPr lang="en-US" altLang="zh-CN" sz="2000" b="1" i="0" u="none" strike="noStrike">
              <a:solidFill>
                <a:srgbClr val="FFFFFF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cxnSp>
        <p:nvCxnSpPr>
          <p:cNvPr id="6" name="Connector 6"/>
          <p:cNvCxnSpPr/>
          <p:nvPr/>
        </p:nvCxnSpPr>
        <p:spPr>
          <a:xfrm rot="-9291">
            <a:off x="1016009" y="2216150"/>
            <a:ext cx="4699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" name="AutoShape 7"/>
          <p:cNvSpPr/>
          <p:nvPr/>
        </p:nvSpPr>
        <p:spPr>
          <a:xfrm>
            <a:off x="1016000" y="2349500"/>
            <a:ext cx="4699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需求的发起者，内容的消费者，也是广告的最终受众。在生态中处于核心接收端。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6223000" y="1524000"/>
            <a:ext cx="5207000" cy="2286000"/>
          </a:xfrm>
          <a:prstGeom prst="roundRect">
            <a:avLst>
              <a:gd name="adj" fmla="val 5555"/>
            </a:avLst>
          </a:prstGeom>
          <a:solidFill>
            <a:srgbClr val="0A2A4E">
              <a:alpha val="100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77000" y="1778000"/>
            <a:ext cx="406400" cy="4064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6985000" y="1752600"/>
            <a:ext cx="4191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20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平台</a:t>
            </a:r>
            <a:r>
              <a:rPr lang="zh-CN" altLang="en-US" sz="20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渠道</a:t>
            </a:r>
            <a:endParaRPr lang="zh-CN" altLang="en-US" sz="2000" b="1" i="0" u="none" strike="noStrike">
              <a:solidFill>
                <a:srgbClr val="FFFFFF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cxnSp>
        <p:nvCxnSpPr>
          <p:cNvPr id="11" name="Connector 11"/>
          <p:cNvCxnSpPr/>
          <p:nvPr/>
        </p:nvCxnSpPr>
        <p:spPr>
          <a:xfrm rot="-9291">
            <a:off x="6477009" y="2216150"/>
            <a:ext cx="4699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" name="AutoShape 12"/>
          <p:cNvSpPr/>
          <p:nvPr/>
        </p:nvSpPr>
        <p:spPr>
          <a:xfrm>
            <a:off x="6477000" y="2349500"/>
            <a:ext cx="4699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连接用户和广告主的桥梁，掌握海量广告位资源，提供用户画像与场景数据支持。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762000" y="4064000"/>
            <a:ext cx="5207000" cy="2286000"/>
          </a:xfrm>
          <a:prstGeom prst="roundRect">
            <a:avLst>
              <a:gd name="adj" fmla="val 5555"/>
            </a:avLst>
          </a:prstGeom>
          <a:solidFill>
            <a:srgbClr val="0A2A4E">
              <a:alpha val="100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16000" y="4318000"/>
            <a:ext cx="406400" cy="4064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1524000" y="4292600"/>
            <a:ext cx="4191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品牌方 (Advertiser)</a:t>
            </a:r>
            <a:endParaRPr lang="en-US" sz="1100"/>
          </a:p>
        </p:txBody>
      </p:sp>
      <p:cxnSp>
        <p:nvCxnSpPr>
          <p:cNvPr id="16" name="Connector 16"/>
          <p:cNvCxnSpPr/>
          <p:nvPr/>
        </p:nvCxnSpPr>
        <p:spPr>
          <a:xfrm rot="-9291">
            <a:off x="1016009" y="4756150"/>
            <a:ext cx="4699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" name="AutoShape 17"/>
          <p:cNvSpPr/>
          <p:nvPr/>
        </p:nvSpPr>
        <p:spPr>
          <a:xfrm>
            <a:off x="1016000" y="4889500"/>
            <a:ext cx="4699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付费方与需求方，目标是通过广告投放获得曝光、点击和转化，提升品牌价值。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6223000" y="4064000"/>
            <a:ext cx="5207000" cy="2286000"/>
          </a:xfrm>
          <a:prstGeom prst="roundRect">
            <a:avLst>
              <a:gd name="adj" fmla="val 5555"/>
            </a:avLst>
          </a:prstGeom>
          <a:solidFill>
            <a:srgbClr val="0A2A4E">
              <a:alpha val="100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477000" y="4318000"/>
            <a:ext cx="406400" cy="406400"/>
          </a:xfrm>
          <a:prstGeom prst="rect">
            <a:avLst/>
          </a:prstGeom>
        </p:spPr>
      </p:pic>
      <p:sp>
        <p:nvSpPr>
          <p:cNvPr id="20" name="AutoShape 20"/>
          <p:cNvSpPr/>
          <p:nvPr/>
        </p:nvSpPr>
        <p:spPr>
          <a:xfrm>
            <a:off x="6985000" y="4292600"/>
            <a:ext cx="4191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20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代理机构</a:t>
            </a:r>
            <a:endParaRPr lang="en-US" sz="1100"/>
          </a:p>
        </p:txBody>
      </p:sp>
      <p:cxnSp>
        <p:nvCxnSpPr>
          <p:cNvPr id="21" name="Connector 21"/>
          <p:cNvCxnSpPr/>
          <p:nvPr/>
        </p:nvCxnSpPr>
        <p:spPr>
          <a:xfrm rot="-9291">
            <a:off x="6477009" y="4756150"/>
            <a:ext cx="4699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2" name="AutoShape 22"/>
          <p:cNvSpPr/>
          <p:nvPr/>
        </p:nvSpPr>
        <p:spPr>
          <a:xfrm>
            <a:off x="6477000" y="4889500"/>
            <a:ext cx="4699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专业投放团队，负责制定策略、设置出价及优化效果，确保广告主的投入产出比。</a:t>
            </a:r>
            <a:endParaRPr lang="en-US" sz="11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0D1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2.3 双视角优势：品牌 &amp; 投放 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524000"/>
            <a:ext cx="5207000" cy="3302000"/>
          </a:xfrm>
          <a:prstGeom prst="roundRect">
            <a:avLst>
              <a:gd name="adj" fmla="val 3846"/>
            </a:avLst>
          </a:prstGeom>
          <a:solidFill>
            <a:srgbClr val="0A2A4E">
              <a:alpha val="60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79500" y="1841500"/>
            <a:ext cx="406400" cy="4064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1587500" y="1803400"/>
            <a:ext cx="4064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品牌方视角：结果导向与安全</a:t>
            </a:r>
            <a:endParaRPr lang="en-US" sz="1100"/>
          </a:p>
        </p:txBody>
      </p:sp>
      <p:cxnSp>
        <p:nvCxnSpPr>
          <p:cNvPr id="6" name="Connector 6"/>
          <p:cNvCxnSpPr/>
          <p:nvPr/>
        </p:nvCxnSpPr>
        <p:spPr>
          <a:xfrm rot="-9549">
            <a:off x="1079509" y="2343150"/>
            <a:ext cx="457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" name="AutoShape 7"/>
          <p:cNvSpPr/>
          <p:nvPr/>
        </p:nvSpPr>
        <p:spPr>
          <a:xfrm>
            <a:off x="1079500" y="2540000"/>
            <a:ext cx="1016000" cy="355600"/>
          </a:xfrm>
          <a:prstGeom prst="roundRect">
            <a:avLst>
              <a:gd name="adj" fmla="val 17857"/>
            </a:avLst>
          </a:prstGeom>
          <a:solidFill>
            <a:srgbClr val="00BFFF">
              <a:alpha val="2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效果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2222500" y="2540000"/>
            <a:ext cx="1016000" cy="355600"/>
          </a:xfrm>
          <a:prstGeom prst="roundRect">
            <a:avLst>
              <a:gd name="adj" fmla="val 17857"/>
            </a:avLst>
          </a:prstGeom>
          <a:solidFill>
            <a:srgbClr val="00BFFF">
              <a:alpha val="2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安全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3365500" y="2540000"/>
            <a:ext cx="1016000" cy="355600"/>
          </a:xfrm>
          <a:prstGeom prst="roundRect">
            <a:avLst>
              <a:gd name="adj" fmla="val 17857"/>
            </a:avLst>
          </a:prstGeom>
          <a:solidFill>
            <a:srgbClr val="00BFFF">
              <a:alpha val="2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可控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4508500" y="2540000"/>
            <a:ext cx="1016000" cy="355600"/>
          </a:xfrm>
          <a:prstGeom prst="roundRect">
            <a:avLst>
              <a:gd name="adj" fmla="val 17857"/>
            </a:avLst>
          </a:prstGeom>
          <a:solidFill>
            <a:srgbClr val="00BFFF">
              <a:alpha val="2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回本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1079500" y="3048000"/>
            <a:ext cx="4572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核心关注点在于投入产出比。钱花出去能否看到效果？过程是否存在风险？投放节奏能否自主掌控？最终能否实现盈利回本？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6223000" y="1524000"/>
            <a:ext cx="5207000" cy="3302000"/>
          </a:xfrm>
          <a:prstGeom prst="roundRect">
            <a:avLst>
              <a:gd name="adj" fmla="val 3846"/>
            </a:avLst>
          </a:prstGeom>
          <a:solidFill>
            <a:srgbClr val="0A2A4E">
              <a:alpha val="60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540500" y="1841500"/>
            <a:ext cx="406400" cy="4064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7048500" y="1803400"/>
            <a:ext cx="4064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投放方视角：策略优化与放量</a:t>
            </a:r>
            <a:endParaRPr lang="en-US" sz="1100"/>
          </a:p>
        </p:txBody>
      </p:sp>
      <p:cxnSp>
        <p:nvCxnSpPr>
          <p:cNvPr id="15" name="Connector 15"/>
          <p:cNvCxnSpPr/>
          <p:nvPr/>
        </p:nvCxnSpPr>
        <p:spPr>
          <a:xfrm rot="-9549">
            <a:off x="6540509" y="2343150"/>
            <a:ext cx="457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6" name="AutoShape 16"/>
          <p:cNvSpPr/>
          <p:nvPr/>
        </p:nvSpPr>
        <p:spPr>
          <a:xfrm>
            <a:off x="6540500" y="2540000"/>
            <a:ext cx="1016000" cy="355600"/>
          </a:xfrm>
          <a:prstGeom prst="roundRect">
            <a:avLst>
              <a:gd name="adj" fmla="val 17857"/>
            </a:avLst>
          </a:prstGeom>
          <a:solidFill>
            <a:srgbClr val="00BFFF">
              <a:alpha val="2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机制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7683500" y="2540000"/>
            <a:ext cx="1016000" cy="355600"/>
          </a:xfrm>
          <a:prstGeom prst="roundRect">
            <a:avLst>
              <a:gd name="adj" fmla="val 17857"/>
            </a:avLst>
          </a:prstGeom>
          <a:solidFill>
            <a:srgbClr val="00BFFF">
              <a:alpha val="2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算法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8826500" y="2540000"/>
            <a:ext cx="1016000" cy="355600"/>
          </a:xfrm>
          <a:prstGeom prst="roundRect">
            <a:avLst>
              <a:gd name="adj" fmla="val 17857"/>
            </a:avLst>
          </a:prstGeom>
          <a:solidFill>
            <a:srgbClr val="00BFFF">
              <a:alpha val="2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优化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9969500" y="2540000"/>
            <a:ext cx="1016000" cy="355600"/>
          </a:xfrm>
          <a:prstGeom prst="roundRect">
            <a:avLst>
              <a:gd name="adj" fmla="val 17857"/>
            </a:avLst>
          </a:prstGeom>
          <a:solidFill>
            <a:srgbClr val="00BFFF">
              <a:alpha val="2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放量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6540500" y="3048000"/>
            <a:ext cx="4572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聚焦于执行层面的技术细节。研究平台底层规则与出价策略，持续优化素材创意与人群定向，致力于在保证ROI的前提下最大化流量规模。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762000" y="5080000"/>
            <a:ext cx="10668000" cy="1270000"/>
          </a:xfrm>
          <a:prstGeom prst="roundRect">
            <a:avLst>
              <a:gd name="adj" fmla="val 10000"/>
            </a:avLst>
          </a:prstGeom>
          <a:gradFill rotWithShape="1">
            <a:gsLst>
              <a:gs pos="0">
                <a:srgbClr val="0A2A4E">
                  <a:alpha val="80000"/>
                </a:srgbClr>
              </a:gs>
              <a:gs pos="100000">
                <a:srgbClr val="040D1A">
                  <a:alpha val="90000"/>
                </a:srgbClr>
              </a:gs>
            </a:gsLst>
            <a:lin ang="0"/>
          </a:gradFill>
          <a:ln w="12700" cap="flat" cmpd="sng">
            <a:solidFill>
              <a:srgbClr val="00BFFF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79500" y="5397500"/>
            <a:ext cx="508000" cy="508000"/>
          </a:xfrm>
          <a:prstGeom prst="rect">
            <a:avLst/>
          </a:prstGeom>
        </p:spPr>
      </p:pic>
      <p:sp>
        <p:nvSpPr>
          <p:cNvPr id="23" name="AutoShape 23"/>
          <p:cNvSpPr/>
          <p:nvPr/>
        </p:nvSpPr>
        <p:spPr>
          <a:xfrm>
            <a:off x="1778000" y="5270500"/>
            <a:ext cx="9398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核心价值：双重视角，保驾护航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融合双方视角，在追求极致效果的同时严格规避风险。确保每一分预算都花得明明白白，实现不被坑、不浪费、不降权、不投毒的稳健投放。</a:t>
            </a:r>
            <a:endParaRPr lang="en-US" sz="1400" b="0" i="0" u="none" strike="noStrike">
              <a:solidFill>
                <a:srgbClr val="FFFFFF">
                  <a:alpha val="80000"/>
                </a:srgbClr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0D1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2.4 效果广告核心：投入 → 点击 → 转化 → ROI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524000"/>
            <a:ext cx="3556000" cy="4572000"/>
          </a:xfrm>
          <a:prstGeom prst="roundRect">
            <a:avLst>
              <a:gd name="adj" fmla="val 3571"/>
            </a:avLst>
          </a:prstGeom>
          <a:solidFill>
            <a:srgbClr val="0A2A4E">
              <a:alpha val="100000"/>
            </a:srgbClr>
          </a:solidFill>
          <a:ln cap="flat" cmpd="sng">
            <a:solidFill>
              <a:srgbClr val="011935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6000" y="1778000"/>
            <a:ext cx="304800" cy="3048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1397000" y="17526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广告类型定位</a:t>
            </a:r>
            <a:endParaRPr lang="en-US" sz="1100"/>
          </a:p>
        </p:txBody>
      </p:sp>
      <p:cxnSp>
        <p:nvCxnSpPr>
          <p:cNvPr id="6" name="Connector 6"/>
          <p:cNvCxnSpPr/>
          <p:nvPr/>
        </p:nvCxnSpPr>
        <p:spPr>
          <a:xfrm rot="-14323">
            <a:off x="1016013" y="2152650"/>
            <a:ext cx="304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6000" y="2413000"/>
            <a:ext cx="254000" cy="2540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397000" y="2387600"/>
            <a:ext cx="2667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品牌广告 (Brand)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1016000" y="2730500"/>
            <a:ext cx="304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FFFFFF">
                    <a:alpha val="6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侧重于建立认知与影响心智，效果难以直接量化，属于长期投资行为。</a:t>
            </a:r>
            <a:endParaRPr lang="en-US" sz="1100"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16000" y="3619500"/>
            <a:ext cx="254000" cy="2540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1397000" y="3594100"/>
            <a:ext cx="2667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效果广告 (Performance)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1016000" y="3937000"/>
            <a:ext cx="3048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FFFFFF">
                    <a:alpha val="6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追求可追踪的直接效果。从曝光、点击到购买转化，全链路数据可监控、可计算。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4572000" y="1524000"/>
            <a:ext cx="6858000" cy="4572000"/>
          </a:xfrm>
          <a:prstGeom prst="roundRect">
            <a:avLst>
              <a:gd name="adj" fmla="val 2777"/>
            </a:avLst>
          </a:prstGeom>
          <a:solidFill>
            <a:srgbClr val="0A2A4E">
              <a:alpha val="100000"/>
            </a:srgbClr>
          </a:solidFill>
          <a:ln cap="flat" cmpd="sng">
            <a:solidFill>
              <a:srgbClr val="011935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826000" y="1778000"/>
            <a:ext cx="304800" cy="3048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5207000" y="17526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核心转化漏斗模型</a:t>
            </a:r>
            <a:endParaRPr lang="en-US" sz="1100"/>
          </a:p>
        </p:txBody>
      </p:sp>
      <p:cxnSp>
        <p:nvCxnSpPr>
          <p:cNvPr id="16" name="Connector 16"/>
          <p:cNvCxnSpPr/>
          <p:nvPr/>
        </p:nvCxnSpPr>
        <p:spPr>
          <a:xfrm rot="-6875">
            <a:off x="4826006" y="2152650"/>
            <a:ext cx="635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" name="AutoShape 17"/>
          <p:cNvSpPr/>
          <p:nvPr/>
        </p:nvSpPr>
        <p:spPr>
          <a:xfrm>
            <a:off x="4826000" y="2413000"/>
            <a:ext cx="1397000" cy="1778000"/>
          </a:xfrm>
          <a:prstGeom prst="roundRect">
            <a:avLst>
              <a:gd name="adj" fmla="val 9090"/>
            </a:avLst>
          </a:prstGeom>
          <a:solidFill>
            <a:srgbClr val="00BFFF">
              <a:alpha val="10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270500" y="2603500"/>
            <a:ext cx="508000" cy="5080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4889500" y="3175000"/>
            <a:ext cx="127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广告投入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4889500" y="3556000"/>
            <a:ext cx="127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FFFFFF">
                    <a:alpha val="6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预算与成本</a:t>
            </a:r>
            <a:endParaRPr lang="en-US" sz="1100"/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286500" y="3111500"/>
            <a:ext cx="254000" cy="254000"/>
          </a:xfrm>
          <a:prstGeom prst="rect">
            <a:avLst/>
          </a:prstGeom>
        </p:spPr>
      </p:pic>
      <p:sp>
        <p:nvSpPr>
          <p:cNvPr id="22" name="AutoShape 22"/>
          <p:cNvSpPr/>
          <p:nvPr/>
        </p:nvSpPr>
        <p:spPr>
          <a:xfrm>
            <a:off x="6604000" y="2413000"/>
            <a:ext cx="1397000" cy="1778000"/>
          </a:xfrm>
          <a:prstGeom prst="roundRect">
            <a:avLst>
              <a:gd name="adj" fmla="val 9090"/>
            </a:avLst>
          </a:prstGeom>
          <a:solidFill>
            <a:srgbClr val="00BFFF">
              <a:alpha val="10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3" name="Picture 23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7048500" y="2603500"/>
            <a:ext cx="508000" cy="508000"/>
          </a:xfrm>
          <a:prstGeom prst="rect">
            <a:avLst/>
          </a:prstGeom>
        </p:spPr>
      </p:pic>
      <p:sp>
        <p:nvSpPr>
          <p:cNvPr id="24" name="AutoShape 24"/>
          <p:cNvSpPr/>
          <p:nvPr/>
        </p:nvSpPr>
        <p:spPr>
          <a:xfrm>
            <a:off x="6667500" y="3175000"/>
            <a:ext cx="127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用户点击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6667500" y="3556000"/>
            <a:ext cx="127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FFFFFF">
                    <a:alpha val="6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流量获取</a:t>
            </a:r>
            <a:endParaRPr lang="en-US" sz="1100"/>
          </a:p>
        </p:txBody>
      </p:sp>
      <p:pic>
        <p:nvPicPr>
          <p:cNvPr id="26" name="Picture 26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064500" y="3111500"/>
            <a:ext cx="254000" cy="254000"/>
          </a:xfrm>
          <a:prstGeom prst="rect">
            <a:avLst/>
          </a:prstGeom>
        </p:spPr>
      </p:pic>
      <p:sp>
        <p:nvSpPr>
          <p:cNvPr id="27" name="AutoShape 27"/>
          <p:cNvSpPr/>
          <p:nvPr/>
        </p:nvSpPr>
        <p:spPr>
          <a:xfrm>
            <a:off x="8382000" y="2413000"/>
            <a:ext cx="1397000" cy="1778000"/>
          </a:xfrm>
          <a:prstGeom prst="roundRect">
            <a:avLst>
              <a:gd name="adj" fmla="val 9090"/>
            </a:avLst>
          </a:prstGeom>
          <a:solidFill>
            <a:srgbClr val="00BFFF">
              <a:alpha val="10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8" name="Picture 28"/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8826500" y="2603500"/>
            <a:ext cx="508000" cy="508000"/>
          </a:xfrm>
          <a:prstGeom prst="rect">
            <a:avLst/>
          </a:prstGeom>
        </p:spPr>
      </p:pic>
      <p:sp>
        <p:nvSpPr>
          <p:cNvPr id="29" name="AutoShape 29"/>
          <p:cNvSpPr/>
          <p:nvPr/>
        </p:nvSpPr>
        <p:spPr>
          <a:xfrm>
            <a:off x="8445500" y="3175000"/>
            <a:ext cx="127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购买转化</a:t>
            </a:r>
            <a:endParaRPr lang="en-US" sz="1100"/>
          </a:p>
        </p:txBody>
      </p:sp>
      <p:sp>
        <p:nvSpPr>
          <p:cNvPr id="30" name="AutoShape 30"/>
          <p:cNvSpPr/>
          <p:nvPr/>
        </p:nvSpPr>
        <p:spPr>
          <a:xfrm>
            <a:off x="8445500" y="3556000"/>
            <a:ext cx="127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FFFFFF">
                    <a:alpha val="6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产生收入</a:t>
            </a:r>
            <a:endParaRPr lang="en-US" sz="1100"/>
          </a:p>
        </p:txBody>
      </p:sp>
      <p:pic>
        <p:nvPicPr>
          <p:cNvPr id="31" name="Picture 31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9842500" y="3111500"/>
            <a:ext cx="254000" cy="254000"/>
          </a:xfrm>
          <a:prstGeom prst="rect">
            <a:avLst/>
          </a:prstGeom>
        </p:spPr>
      </p:pic>
      <p:sp>
        <p:nvSpPr>
          <p:cNvPr id="32" name="AutoShape 32"/>
          <p:cNvSpPr/>
          <p:nvPr/>
        </p:nvSpPr>
        <p:spPr>
          <a:xfrm>
            <a:off x="10160000" y="2413000"/>
            <a:ext cx="1143000" cy="1778000"/>
          </a:xfrm>
          <a:prstGeom prst="roundRect">
            <a:avLst>
              <a:gd name="adj" fmla="val 11111"/>
            </a:avLst>
          </a:prstGeom>
          <a:solidFill>
            <a:srgbClr val="00BFFF">
              <a:alpha val="20000"/>
            </a:srgbClr>
          </a:solidFill>
          <a:ln w="12700" cap="flat" cmpd="sng">
            <a:solidFill>
              <a:srgbClr val="00BFFF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33" name="Picture 33"/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10477500" y="2603500"/>
            <a:ext cx="508000" cy="508000"/>
          </a:xfrm>
          <a:prstGeom prst="rect">
            <a:avLst/>
          </a:prstGeom>
        </p:spPr>
      </p:pic>
      <p:sp>
        <p:nvSpPr>
          <p:cNvPr id="34" name="AutoShape 34"/>
          <p:cNvSpPr/>
          <p:nvPr/>
        </p:nvSpPr>
        <p:spPr>
          <a:xfrm>
            <a:off x="10160000" y="3175000"/>
            <a:ext cx="114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ROI</a:t>
            </a:r>
            <a:endParaRPr lang="en-US" sz="1100"/>
          </a:p>
        </p:txBody>
      </p:sp>
      <p:sp>
        <p:nvSpPr>
          <p:cNvPr id="35" name="AutoShape 35"/>
          <p:cNvSpPr/>
          <p:nvPr/>
        </p:nvSpPr>
        <p:spPr>
          <a:xfrm>
            <a:off x="10160000" y="3556000"/>
            <a:ext cx="1143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FFFFFF">
                    <a:alpha val="6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投资回报</a:t>
            </a:r>
            <a:endParaRPr lang="en-US" sz="1100"/>
          </a:p>
        </p:txBody>
      </p:sp>
      <p:sp>
        <p:nvSpPr>
          <p:cNvPr id="36" name="AutoShape 36"/>
          <p:cNvSpPr/>
          <p:nvPr/>
        </p:nvSpPr>
        <p:spPr>
          <a:xfrm>
            <a:off x="4826000" y="4445000"/>
            <a:ext cx="6477000" cy="1397000"/>
          </a:xfrm>
          <a:prstGeom prst="roundRect">
            <a:avLst>
              <a:gd name="adj" fmla="val 9090"/>
            </a:avLst>
          </a:prstGeom>
          <a:solidFill>
            <a:srgbClr val="FFFFFF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37" name="Picture 37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5016500" y="4635500"/>
            <a:ext cx="304800" cy="304800"/>
          </a:xfrm>
          <a:prstGeom prst="rect">
            <a:avLst/>
          </a:prstGeom>
        </p:spPr>
      </p:pic>
      <p:sp>
        <p:nvSpPr>
          <p:cNvPr id="38" name="AutoShape 38"/>
          <p:cNvSpPr/>
          <p:nvPr/>
        </p:nvSpPr>
        <p:spPr>
          <a:xfrm>
            <a:off x="5397500" y="4610100"/>
            <a:ext cx="571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核心目标：优化漏斗，提升效率</a:t>
            </a:r>
            <a:endParaRPr lang="en-US" sz="1100"/>
          </a:p>
        </p:txBody>
      </p:sp>
      <p:sp>
        <p:nvSpPr>
          <p:cNvPr id="39" name="AutoShape 39"/>
          <p:cNvSpPr/>
          <p:nvPr/>
        </p:nvSpPr>
        <p:spPr>
          <a:xfrm>
            <a:off x="5016500" y="5016500"/>
            <a:ext cx="6096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以最少的投入获取最精准的流量，通过全链路追踪优化，最终实现最高的投资回报率。</a:t>
            </a:r>
            <a:endParaRPr lang="en-US" sz="11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0D1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3556000" y="889000"/>
            <a:ext cx="5080000" cy="5080000"/>
          </a:xfrm>
          <a:prstGeom prst="ellipse">
            <a:avLst/>
          </a:prstGeom>
          <a:solidFill>
            <a:srgbClr val="0A2A4E">
              <a:alpha val="30000"/>
            </a:srgbClr>
          </a:solidFill>
          <a:ln w="12700" cap="flat" cmpd="sng">
            <a:solidFill>
              <a:srgbClr val="00BFFF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4191000" y="1524000"/>
            <a:ext cx="3810000" cy="3810000"/>
          </a:xfrm>
          <a:prstGeom prst="ellipse">
            <a:avLst/>
          </a:prstGeom>
          <a:noFill/>
          <a:ln w="12700" cap="flat" cmpd="sng">
            <a:solidFill>
              <a:srgbClr val="00BFFF">
                <a:alpha val="15000"/>
              </a:srgbClr>
            </a:solidFill>
            <a:prstDash val="dash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0" y="1778000"/>
            <a:ext cx="12192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8000" b="1" i="0" u="none" strike="noStrike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03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0" y="3048000"/>
            <a:ext cx="1219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AI增长破局</a:t>
            </a:r>
            <a:endParaRPr lang="en-US" sz="1100"/>
          </a:p>
        </p:txBody>
      </p:sp>
      <p:cxnSp>
        <p:nvCxnSpPr>
          <p:cNvPr id="6" name="Connector 6"/>
          <p:cNvCxnSpPr/>
          <p:nvPr/>
        </p:nvCxnSpPr>
        <p:spPr>
          <a:xfrm rot="-42969">
            <a:off x="5588040" y="3930650"/>
            <a:ext cx="101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38100" cap="flat" cmpd="sng">
            <a:solidFill>
              <a:srgbClr val="00BFFF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7" name="AutoShape 7"/>
          <p:cNvSpPr/>
          <p:nvPr/>
        </p:nvSpPr>
        <p:spPr>
          <a:xfrm>
            <a:off x="0" y="4127500"/>
            <a:ext cx="1219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新品发布的系统解决方案</a:t>
            </a:r>
            <a:endParaRPr lang="en-US" sz="1100"/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892800" y="4826000"/>
            <a:ext cx="406400" cy="4064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0D1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4.1 传统增长为什么救不了新品？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651000"/>
            <a:ext cx="3302000" cy="4318000"/>
          </a:xfrm>
          <a:prstGeom prst="roundRect">
            <a:avLst>
              <a:gd name="adj" fmla="val 3846"/>
            </a:avLst>
          </a:prstGeom>
          <a:solidFill>
            <a:srgbClr val="0A2A4E">
              <a:alpha val="100000"/>
            </a:srgbClr>
          </a:solidFill>
          <a:ln cap="flat" cmpd="sng">
            <a:solidFill>
              <a:srgbClr val="011935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3302000" cy="50800"/>
          </a:xfrm>
          <a:prstGeom prst="roundRect">
            <a:avLst>
              <a:gd name="adj" fmla="val 0"/>
            </a:avLst>
          </a:prstGeom>
          <a:solidFill>
            <a:srgbClr val="00B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79500" y="1968500"/>
            <a:ext cx="508000" cy="5080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079500" y="2603500"/>
            <a:ext cx="266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SEO 周期过长</a:t>
            </a:r>
            <a:endParaRPr lang="en-US" sz="1100"/>
          </a:p>
        </p:txBody>
      </p:sp>
      <p:cxnSp>
        <p:nvCxnSpPr>
          <p:cNvPr id="7" name="Connector 7"/>
          <p:cNvCxnSpPr/>
          <p:nvPr/>
        </p:nvCxnSpPr>
        <p:spPr>
          <a:xfrm rot="-16370">
            <a:off x="1079515" y="3041650"/>
            <a:ext cx="2667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" name="AutoShape 8"/>
          <p:cNvSpPr/>
          <p:nvPr/>
        </p:nvSpPr>
        <p:spPr>
          <a:xfrm>
            <a:off x="1079500" y="3175000"/>
            <a:ext cx="2667000" cy="241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需要长期的内容积累和权重提升，周期太长。对于追求快速上市和爆发的新品来说，远水解不了近渴，难以满足快速起量需求。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4445000" y="1651000"/>
            <a:ext cx="3302000" cy="4318000"/>
          </a:xfrm>
          <a:prstGeom prst="roundRect">
            <a:avLst>
              <a:gd name="adj" fmla="val 3846"/>
            </a:avLst>
          </a:prstGeom>
          <a:solidFill>
            <a:srgbClr val="0A2A4E">
              <a:alpha val="100000"/>
            </a:srgbClr>
          </a:solidFill>
          <a:ln cap="flat" cmpd="sng">
            <a:solidFill>
              <a:srgbClr val="011935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4445000" y="1651000"/>
            <a:ext cx="3302000" cy="50800"/>
          </a:xfrm>
          <a:prstGeom prst="roundRect">
            <a:avLst>
              <a:gd name="adj" fmla="val 0"/>
            </a:avLst>
          </a:prstGeom>
          <a:solidFill>
            <a:srgbClr val="00B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62500" y="1968500"/>
            <a:ext cx="508000" cy="5080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4762500" y="2603500"/>
            <a:ext cx="266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GEO 极度脆弱</a:t>
            </a:r>
            <a:endParaRPr lang="en-US" sz="1100"/>
          </a:p>
        </p:txBody>
      </p:sp>
      <p:cxnSp>
        <p:nvCxnSpPr>
          <p:cNvPr id="13" name="Connector 13"/>
          <p:cNvCxnSpPr/>
          <p:nvPr/>
        </p:nvCxnSpPr>
        <p:spPr>
          <a:xfrm rot="-16370">
            <a:off x="4762515" y="3041650"/>
            <a:ext cx="2667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" name="AutoShape 14"/>
          <p:cNvSpPr/>
          <p:nvPr/>
        </p:nvSpPr>
        <p:spPr>
          <a:xfrm>
            <a:off x="4762500" y="3175000"/>
            <a:ext cx="2667000" cy="241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虽然见效快，但极度依赖持续的内容投喂。一旦停止运营，之前积累的曝光和认知会迅速归零，无法建立长期品牌壁垒。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8128000" y="1651000"/>
            <a:ext cx="3302000" cy="4318000"/>
          </a:xfrm>
          <a:prstGeom prst="roundRect">
            <a:avLst>
              <a:gd name="adj" fmla="val 3846"/>
            </a:avLst>
          </a:prstGeom>
          <a:solidFill>
            <a:srgbClr val="0A2A4E">
              <a:alpha val="100000"/>
            </a:srgbClr>
          </a:solidFill>
          <a:ln cap="flat" cmpd="sng">
            <a:solidFill>
              <a:srgbClr val="011935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8128000" y="1651000"/>
            <a:ext cx="3302000" cy="50800"/>
          </a:xfrm>
          <a:prstGeom prst="roundRect">
            <a:avLst>
              <a:gd name="adj" fmla="val 0"/>
            </a:avLst>
          </a:prstGeom>
          <a:solidFill>
            <a:srgbClr val="00B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445500" y="1968500"/>
            <a:ext cx="508000" cy="5080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8445500" y="2603500"/>
            <a:ext cx="266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外包运营失控</a:t>
            </a:r>
            <a:endParaRPr lang="en-US" sz="1100"/>
          </a:p>
        </p:txBody>
      </p:sp>
      <p:cxnSp>
        <p:nvCxnSpPr>
          <p:cNvPr id="19" name="Connector 19"/>
          <p:cNvCxnSpPr/>
          <p:nvPr/>
        </p:nvCxnSpPr>
        <p:spPr>
          <a:xfrm rot="-16370">
            <a:off x="8445515" y="3041650"/>
            <a:ext cx="2667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" name="AutoShape 20"/>
          <p:cNvSpPr/>
          <p:nvPr/>
        </p:nvSpPr>
        <p:spPr>
          <a:xfrm>
            <a:off x="8445500" y="3175000"/>
            <a:ext cx="2667000" cy="241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存在巨大风险，不仅可能因操作不当导致“AI投毒”，更严重的是，品牌会彻底失去对核心增长数据和用户洞察的掌控权。</a:t>
            </a:r>
            <a:endParaRPr lang="en-US" sz="11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0D1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3.2 AI时代最大陷阱 —— AI投毒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524000"/>
            <a:ext cx="3302000" cy="3048000"/>
          </a:xfrm>
          <a:prstGeom prst="roundRect">
            <a:avLst>
              <a:gd name="adj" fmla="val 4166"/>
            </a:avLst>
          </a:prstGeom>
          <a:solidFill>
            <a:srgbClr val="0A2A4E">
              <a:alpha val="100000"/>
            </a:srgbClr>
          </a:solidFill>
          <a:ln cap="flat" cmpd="sng">
            <a:solidFill>
              <a:srgbClr val="011935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6000" y="1778000"/>
            <a:ext cx="406400" cy="4064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1524000" y="1778000"/>
            <a:ext cx="2286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什么是AI投毒？</a:t>
            </a:r>
            <a:endParaRPr lang="en-US" sz="1100"/>
          </a:p>
        </p:txBody>
      </p:sp>
      <p:cxnSp>
        <p:nvCxnSpPr>
          <p:cNvPr id="6" name="Connector 6"/>
          <p:cNvCxnSpPr/>
          <p:nvPr/>
        </p:nvCxnSpPr>
        <p:spPr>
          <a:xfrm rot="-15626">
            <a:off x="1016014" y="2279650"/>
            <a:ext cx="279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" name="AutoShape 7"/>
          <p:cNvSpPr/>
          <p:nvPr/>
        </p:nvSpPr>
        <p:spPr>
          <a:xfrm>
            <a:off x="1016000" y="2413000"/>
            <a:ext cx="2794000" cy="190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C8D2DC"/>
                </a:solidFill>
                <a:latin typeface="Noto Sans SC"/>
                <a:ea typeface="Noto Sans SC"/>
                <a:cs typeface="Noto Sans SC"/>
                <a:sym typeface="Noto Sans SC"/>
              </a:rPr>
              <a:t>向AI大模型投喂错误、虚假或低质量信息，导致模型对品牌认知产生偏差，输出负面内容，造成长期且难以挽回的品牌伤害。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4445000" y="1524000"/>
            <a:ext cx="3302000" cy="3048000"/>
          </a:xfrm>
          <a:prstGeom prst="roundRect">
            <a:avLst>
              <a:gd name="adj" fmla="val 4166"/>
            </a:avLst>
          </a:prstGeom>
          <a:solidFill>
            <a:srgbClr val="0A2A4E">
              <a:alpha val="100000"/>
            </a:srgbClr>
          </a:solidFill>
          <a:ln cap="flat" cmpd="sng">
            <a:solidFill>
              <a:srgbClr val="011935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99000" y="1778000"/>
            <a:ext cx="406400" cy="4064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5207000" y="1778000"/>
            <a:ext cx="2286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为什么风险高？</a:t>
            </a:r>
            <a:endParaRPr lang="en-US" sz="1100"/>
          </a:p>
        </p:txBody>
      </p:sp>
      <p:cxnSp>
        <p:nvCxnSpPr>
          <p:cNvPr id="11" name="Connector 11"/>
          <p:cNvCxnSpPr/>
          <p:nvPr/>
        </p:nvCxnSpPr>
        <p:spPr>
          <a:xfrm rot="-15626">
            <a:off x="4699014" y="2279650"/>
            <a:ext cx="279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" name="AutoShape 12"/>
          <p:cNvSpPr/>
          <p:nvPr/>
        </p:nvSpPr>
        <p:spPr>
          <a:xfrm>
            <a:off x="4699000" y="2413000"/>
            <a:ext cx="2794000" cy="190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C8D2DC"/>
                </a:solidFill>
                <a:latin typeface="Noto Sans SC"/>
                <a:ea typeface="Noto Sans SC"/>
                <a:cs typeface="Noto Sans SC"/>
                <a:sym typeface="Noto Sans SC"/>
              </a:rPr>
              <a:t>外包团队常为短期效果采取“洗稿”、“关键词堆砌”等手段。这种低质量运营是典型的AI投毒行为，等同于将品牌声誉交给他人。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8128000" y="1524000"/>
            <a:ext cx="3302000" cy="3048000"/>
          </a:xfrm>
          <a:prstGeom prst="roundRect">
            <a:avLst>
              <a:gd name="adj" fmla="val 4166"/>
            </a:avLst>
          </a:prstGeom>
          <a:solidFill>
            <a:srgbClr val="0A2A4E">
              <a:alpha val="100000"/>
            </a:srgbClr>
          </a:solidFill>
          <a:ln cap="flat" cmpd="sng">
            <a:solidFill>
              <a:srgbClr val="011935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382000" y="1778000"/>
            <a:ext cx="406400" cy="4064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8890000" y="1778000"/>
            <a:ext cx="2286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核心铁律</a:t>
            </a:r>
            <a:endParaRPr lang="en-US" sz="1100"/>
          </a:p>
        </p:txBody>
      </p:sp>
      <p:cxnSp>
        <p:nvCxnSpPr>
          <p:cNvPr id="16" name="Connector 16"/>
          <p:cNvCxnSpPr/>
          <p:nvPr/>
        </p:nvCxnSpPr>
        <p:spPr>
          <a:xfrm rot="-15626">
            <a:off x="8382014" y="2279650"/>
            <a:ext cx="279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" name="AutoShape 17"/>
          <p:cNvSpPr/>
          <p:nvPr/>
        </p:nvSpPr>
        <p:spPr>
          <a:xfrm>
            <a:off x="8382000" y="2413000"/>
            <a:ext cx="2794000" cy="190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C8D2DC"/>
                </a:solidFill>
                <a:latin typeface="Noto Sans SC"/>
                <a:ea typeface="Noto Sans SC"/>
                <a:cs typeface="Noto Sans SC"/>
                <a:sym typeface="Noto Sans SC"/>
              </a:rPr>
              <a:t>守护品牌生命线的关键：AI增长绝不外包，必须由品牌方自主掌控内容生产和运营。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762000" y="4826000"/>
            <a:ext cx="10668000" cy="1270000"/>
          </a:xfrm>
          <a:prstGeom prst="roundRect">
            <a:avLst>
              <a:gd name="adj" fmla="val 10000"/>
            </a:avLst>
          </a:prstGeom>
          <a:solidFill>
            <a:srgbClr val="00BFFF">
              <a:alpha val="10000"/>
            </a:srgbClr>
          </a:solidFill>
          <a:ln w="12700" cap="flat" cmpd="sng">
            <a:solidFill>
              <a:srgbClr val="00BFFF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16000" y="5207000"/>
            <a:ext cx="508000" cy="508000"/>
          </a:xfrm>
          <a:prstGeom prst="rect">
            <a:avLst/>
          </a:prstGeom>
        </p:spPr>
      </p:pic>
      <p:sp>
        <p:nvSpPr>
          <p:cNvPr id="20" name="AutoShape 20"/>
          <p:cNvSpPr/>
          <p:nvPr/>
        </p:nvSpPr>
        <p:spPr>
          <a:xfrm>
            <a:off x="1651000" y="5080000"/>
            <a:ext cx="9525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核心结论：</a:t>
            </a:r>
            <a:r>
              <a:rPr lang="zh-CN" altLang="en-US" sz="2000" b="1" i="0" u="none" strike="noStrike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互联网有记忆</a:t>
            </a:r>
            <a:r>
              <a:rPr lang="en-US" altLang="zh-CN" sz="2000" b="1" i="0" u="none" strike="noStrike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、</a:t>
            </a:r>
            <a:r>
              <a:rPr lang="zh-CN" altLang="en-US" sz="2000" b="1" i="0" u="none" strike="noStrike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品牌</a:t>
            </a:r>
            <a:r>
              <a:rPr lang="zh-CN" altLang="en-US" sz="2000" b="1" i="0" u="none" strike="noStrike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不做有损基业长青的动作</a:t>
            </a:r>
            <a:r>
              <a:rPr lang="en-US" altLang="zh-CN" sz="2000" b="1" i="0" u="none" strike="noStrike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altLang="zh-CN" sz="2000" b="1" i="0" u="none" strike="noStrike">
              <a:solidFill>
                <a:srgbClr val="00BFFF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0D1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3.3 AI</a:t>
            </a:r>
            <a:r>
              <a:rPr lang="zh-CN" altLang="en-US" sz="3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时代</a:t>
            </a:r>
            <a:r>
              <a:rPr lang="en-US" sz="3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增长前提 —— 满足「真」需求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651000"/>
            <a:ext cx="3302000" cy="4318000"/>
          </a:xfrm>
          <a:prstGeom prst="roundRect">
            <a:avLst>
              <a:gd name="adj" fmla="val 3846"/>
            </a:avLst>
          </a:prstGeom>
          <a:solidFill>
            <a:srgbClr val="0A2A4E">
              <a:alpha val="100000"/>
            </a:srgbClr>
          </a:solidFill>
          <a:ln cap="flat" cmpd="sng">
            <a:solidFill>
              <a:srgbClr val="011935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6000" y="1905000"/>
            <a:ext cx="609600" cy="6096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1016000" y="2667000"/>
            <a:ext cx="279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技术无门槛</a:t>
            </a:r>
            <a:endParaRPr lang="en-US" sz="1100"/>
          </a:p>
        </p:txBody>
      </p:sp>
      <p:cxnSp>
        <p:nvCxnSpPr>
          <p:cNvPr id="6" name="Connector 6"/>
          <p:cNvCxnSpPr/>
          <p:nvPr/>
        </p:nvCxnSpPr>
        <p:spPr>
          <a:xfrm rot="-15626">
            <a:off x="1016014" y="3105150"/>
            <a:ext cx="2794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" name="AutoShape 7"/>
          <p:cNvSpPr/>
          <p:nvPr/>
        </p:nvSpPr>
        <p:spPr>
          <a:xfrm>
            <a:off x="1016000" y="3238500"/>
            <a:ext cx="2794000" cy="241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在AI时代，单纯的技术领先已难构成长久壁垒。技术炫技吸引用户的效果正在减弱，用户更关注实际价值。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4445000" y="1651000"/>
            <a:ext cx="3302000" cy="4318000"/>
          </a:xfrm>
          <a:prstGeom prst="roundRect">
            <a:avLst>
              <a:gd name="adj" fmla="val 3846"/>
            </a:avLst>
          </a:prstGeom>
          <a:solidFill>
            <a:srgbClr val="0A2A4E">
              <a:alpha val="100000"/>
            </a:srgbClr>
          </a:solidFill>
          <a:ln cap="flat" cmpd="sng">
            <a:solidFill>
              <a:srgbClr val="011935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99000" y="1905000"/>
            <a:ext cx="609600" cy="6096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4699000" y="2667000"/>
            <a:ext cx="279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好产品的新标准</a:t>
            </a:r>
            <a:endParaRPr lang="en-US" sz="1100"/>
          </a:p>
        </p:txBody>
      </p:sp>
      <p:cxnSp>
        <p:nvCxnSpPr>
          <p:cNvPr id="11" name="Connector 11"/>
          <p:cNvCxnSpPr/>
          <p:nvPr/>
        </p:nvCxnSpPr>
        <p:spPr>
          <a:xfrm rot="-15626">
            <a:off x="4699014" y="3105150"/>
            <a:ext cx="2794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" name="AutoShape 12"/>
          <p:cNvSpPr/>
          <p:nvPr/>
        </p:nvSpPr>
        <p:spPr>
          <a:xfrm>
            <a:off x="4699000" y="3238500"/>
            <a:ext cx="2794000" cy="241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好产品不再仅看参数，更看能否解决痛点、融入真实场景。符合用户决策逻辑，才是产品的核心竞争力。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8128000" y="1651000"/>
            <a:ext cx="3302000" cy="4318000"/>
          </a:xfrm>
          <a:prstGeom prst="roundRect">
            <a:avLst>
              <a:gd name="adj" fmla="val 3846"/>
            </a:avLst>
          </a:prstGeom>
          <a:solidFill>
            <a:srgbClr val="0A2A4E">
              <a:alpha val="100000"/>
            </a:srgbClr>
          </a:solidFill>
          <a:ln cap="flat" cmpd="sng">
            <a:solidFill>
              <a:srgbClr val="011935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382000" y="1905000"/>
            <a:ext cx="609600" cy="6096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8382000" y="2667000"/>
            <a:ext cx="279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增长的前提</a:t>
            </a:r>
            <a:endParaRPr lang="en-US" sz="1100"/>
          </a:p>
        </p:txBody>
      </p:sp>
      <p:cxnSp>
        <p:nvCxnSpPr>
          <p:cNvPr id="16" name="Connector 16"/>
          <p:cNvCxnSpPr/>
          <p:nvPr/>
        </p:nvCxnSpPr>
        <p:spPr>
          <a:xfrm rot="-15626">
            <a:off x="8382014" y="3105150"/>
            <a:ext cx="2794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" name="AutoShape 17"/>
          <p:cNvSpPr/>
          <p:nvPr/>
        </p:nvSpPr>
        <p:spPr>
          <a:xfrm>
            <a:off x="8382000" y="3238500"/>
            <a:ext cx="2794000" cy="241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增长的基石是满足用户的“真需求”。产品本身若有问题，再好的流量策略也无济于事。先做对产品，再谈增长。</a:t>
            </a:r>
            <a:endParaRPr lang="en-US" sz="11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0D1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4.2 核心武器：四大AI增长全域图谱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524000"/>
            <a:ext cx="5207000" cy="2349500"/>
          </a:xfrm>
          <a:prstGeom prst="roundRect">
            <a:avLst>
              <a:gd name="adj" fmla="val 5405"/>
            </a:avLst>
          </a:prstGeom>
          <a:solidFill>
            <a:srgbClr val="0A2A4E">
              <a:alpha val="100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6000" y="1778000"/>
            <a:ext cx="406400" cy="4064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1524000" y="1752600"/>
            <a:ext cx="4191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渠道图谱：精准流量导航</a:t>
            </a:r>
            <a:endParaRPr lang="en-US" sz="1100"/>
          </a:p>
        </p:txBody>
      </p:sp>
      <p:cxnSp>
        <p:nvCxnSpPr>
          <p:cNvPr id="6" name="Connector 6"/>
          <p:cNvCxnSpPr/>
          <p:nvPr/>
        </p:nvCxnSpPr>
        <p:spPr>
          <a:xfrm rot="-9291">
            <a:off x="1016009" y="22161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" name="AutoShape 7"/>
          <p:cNvSpPr/>
          <p:nvPr/>
        </p:nvSpPr>
        <p:spPr>
          <a:xfrm>
            <a:off x="1016000" y="2349500"/>
            <a:ext cx="4699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全面扫描AI平台、社交媒体及搜索引擎等入口，利用AI算法分析数据，找到最高效、最匹配的投放路径，确保流量获取的精准性与ROI最大化。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6223000" y="1524000"/>
            <a:ext cx="5207000" cy="2349500"/>
          </a:xfrm>
          <a:prstGeom prst="roundRect">
            <a:avLst>
              <a:gd name="adj" fmla="val 5405"/>
            </a:avLst>
          </a:prstGeom>
          <a:solidFill>
            <a:srgbClr val="0A2A4E">
              <a:alpha val="100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77000" y="1778000"/>
            <a:ext cx="406400" cy="4064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6985000" y="1752600"/>
            <a:ext cx="4191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品类图谱：差异化赛道定位</a:t>
            </a:r>
            <a:endParaRPr lang="en-US" sz="1100"/>
          </a:p>
        </p:txBody>
      </p:sp>
      <p:cxnSp>
        <p:nvCxnSpPr>
          <p:cNvPr id="11" name="Connector 11"/>
          <p:cNvCxnSpPr/>
          <p:nvPr/>
        </p:nvCxnSpPr>
        <p:spPr>
          <a:xfrm rot="-9291">
            <a:off x="6477009" y="22161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" name="AutoShape 12"/>
          <p:cNvSpPr/>
          <p:nvPr/>
        </p:nvSpPr>
        <p:spPr>
          <a:xfrm>
            <a:off x="6477000" y="2349500"/>
            <a:ext cx="4699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深入分析市场格局与竞争态势，通过AI洞察用户认知空白，帮助新品避开红海竞争，精准切入具有高增长潜力的差异化赛道。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762000" y="4064000"/>
            <a:ext cx="5207000" cy="2349500"/>
          </a:xfrm>
          <a:prstGeom prst="roundRect">
            <a:avLst>
              <a:gd name="adj" fmla="val 5405"/>
            </a:avLst>
          </a:prstGeom>
          <a:solidFill>
            <a:srgbClr val="0A2A4E">
              <a:alpha val="100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16000" y="4318000"/>
            <a:ext cx="406400" cy="4064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1524000" y="4292600"/>
            <a:ext cx="4191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场景图谱：沉浸式解决方案</a:t>
            </a:r>
            <a:endParaRPr lang="en-US" sz="1100"/>
          </a:p>
        </p:txBody>
      </p:sp>
      <p:cxnSp>
        <p:nvCxnSpPr>
          <p:cNvPr id="16" name="Connector 16"/>
          <p:cNvCxnSpPr/>
          <p:nvPr/>
        </p:nvCxnSpPr>
        <p:spPr>
          <a:xfrm rot="-9291">
            <a:off x="1016009" y="47561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" name="AutoShape 17"/>
          <p:cNvSpPr/>
          <p:nvPr/>
        </p:nvSpPr>
        <p:spPr>
          <a:xfrm>
            <a:off x="1016000" y="4889500"/>
            <a:ext cx="4699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利用AI技术深度还原用户的真实生活与决策场景，将产品功能转化为可感知的生活解决方案，增强用户代入感与购买意愿。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6223000" y="4064000"/>
            <a:ext cx="5207000" cy="2349500"/>
          </a:xfrm>
          <a:prstGeom prst="roundRect">
            <a:avLst>
              <a:gd name="adj" fmla="val 5405"/>
            </a:avLst>
          </a:prstGeom>
          <a:solidFill>
            <a:srgbClr val="0A2A4E">
              <a:alpha val="100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477000" y="4318000"/>
            <a:ext cx="406400" cy="406400"/>
          </a:xfrm>
          <a:prstGeom prst="rect">
            <a:avLst/>
          </a:prstGeom>
        </p:spPr>
      </p:pic>
      <p:sp>
        <p:nvSpPr>
          <p:cNvPr id="20" name="AutoShape 20"/>
          <p:cNvSpPr/>
          <p:nvPr/>
        </p:nvSpPr>
        <p:spPr>
          <a:xfrm>
            <a:off x="6985000" y="4292600"/>
            <a:ext cx="4191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产品图谱：竞品弱点狙击</a:t>
            </a:r>
            <a:endParaRPr lang="en-US" sz="1100"/>
          </a:p>
        </p:txBody>
      </p:sp>
      <p:cxnSp>
        <p:nvCxnSpPr>
          <p:cNvPr id="21" name="Connector 21"/>
          <p:cNvCxnSpPr/>
          <p:nvPr/>
        </p:nvCxnSpPr>
        <p:spPr>
          <a:xfrm rot="-9291">
            <a:off x="6477009" y="47561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2" name="AutoShape 22"/>
          <p:cNvSpPr/>
          <p:nvPr/>
        </p:nvSpPr>
        <p:spPr>
          <a:xfrm>
            <a:off x="6477000" y="4889500"/>
            <a:ext cx="4699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通过AI全量对比分析竞品数据，精准定位其功能弱点与用户未被满足的需求，为产品迭代提供数据支撑，构建独特的竞争壁垒。</a:t>
            </a:r>
            <a:endParaRPr lang="en-US" sz="11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0D1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4.3 图谱下钻：选题 → 内容 → 产品反哺闭环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651000"/>
            <a:ext cx="3302000" cy="4064000"/>
          </a:xfrm>
          <a:prstGeom prst="roundRect">
            <a:avLst>
              <a:gd name="adj" fmla="val 3846"/>
            </a:avLst>
          </a:prstGeom>
          <a:solidFill>
            <a:srgbClr val="0A2A4E">
              <a:alpha val="100000"/>
            </a:srgbClr>
          </a:solidFill>
          <a:ln cap="flat" cmpd="sng">
            <a:solidFill>
              <a:srgbClr val="011935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66800" y="1955800"/>
            <a:ext cx="406400" cy="4064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1574800" y="1930400"/>
            <a:ext cx="2286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精准选题挖掘</a:t>
            </a:r>
            <a:endParaRPr lang="en-US" sz="1100"/>
          </a:p>
        </p:txBody>
      </p:sp>
      <p:cxnSp>
        <p:nvCxnSpPr>
          <p:cNvPr id="6" name="Connector 6"/>
          <p:cNvCxnSpPr/>
          <p:nvPr/>
        </p:nvCxnSpPr>
        <p:spPr>
          <a:xfrm rot="-16215">
            <a:off x="1066815" y="2457450"/>
            <a:ext cx="2692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" name="AutoShape 7"/>
          <p:cNvSpPr/>
          <p:nvPr/>
        </p:nvSpPr>
        <p:spPr>
          <a:xfrm>
            <a:off x="1066800" y="2590800"/>
            <a:ext cx="2692400" cy="279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基于四大图谱挖掘用户真实需求与痛点，告别企业自嗨式生产，确保选题精准命中用户核心关注点。</a:t>
            </a:r>
            <a:endParaRPr lang="en-US" sz="1100"/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241800" y="3429000"/>
            <a:ext cx="304800" cy="3048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4749800" y="1651000"/>
            <a:ext cx="3302000" cy="4064000"/>
          </a:xfrm>
          <a:prstGeom prst="roundRect">
            <a:avLst>
              <a:gd name="adj" fmla="val 3846"/>
            </a:avLst>
          </a:prstGeom>
          <a:solidFill>
            <a:srgbClr val="0A2A4E">
              <a:alpha val="100000"/>
            </a:srgbClr>
          </a:solidFill>
          <a:ln cap="flat" cmpd="sng">
            <a:solidFill>
              <a:srgbClr val="011935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054600" y="1955800"/>
            <a:ext cx="406400" cy="4064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5562600" y="1930400"/>
            <a:ext cx="2286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高质量内容生成</a:t>
            </a:r>
            <a:endParaRPr lang="en-US" sz="1100"/>
          </a:p>
        </p:txBody>
      </p:sp>
      <p:cxnSp>
        <p:nvCxnSpPr>
          <p:cNvPr id="12" name="Connector 12"/>
          <p:cNvCxnSpPr/>
          <p:nvPr/>
        </p:nvCxnSpPr>
        <p:spPr>
          <a:xfrm rot="-16215">
            <a:off x="5054615" y="2457450"/>
            <a:ext cx="2692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" name="AutoShape 13"/>
          <p:cNvSpPr/>
          <p:nvPr/>
        </p:nvSpPr>
        <p:spPr>
          <a:xfrm>
            <a:off x="5054600" y="2590800"/>
            <a:ext cx="2692400" cy="279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遵循AI引擎规则生成干净、无偏的优质内容，确保内容被准确理解与推荐，同时有效传递品牌核心价值。</a:t>
            </a:r>
            <a:endParaRPr lang="en-US" sz="1100"/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229600" y="3429000"/>
            <a:ext cx="304800" cy="3048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8737600" y="1651000"/>
            <a:ext cx="2692400" cy="4064000"/>
          </a:xfrm>
          <a:prstGeom prst="roundRect">
            <a:avLst>
              <a:gd name="adj" fmla="val 4716"/>
            </a:avLst>
          </a:prstGeom>
          <a:solidFill>
            <a:srgbClr val="0A2A4E">
              <a:alpha val="100000"/>
            </a:srgbClr>
          </a:solidFill>
          <a:ln cap="flat" cmpd="sng">
            <a:solidFill>
              <a:srgbClr val="011935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042400" y="1955800"/>
            <a:ext cx="406400" cy="4064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9550400" y="1930400"/>
            <a:ext cx="1651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数据反哺闭环</a:t>
            </a:r>
            <a:endParaRPr lang="en-US" sz="1100"/>
          </a:p>
        </p:txBody>
      </p:sp>
      <p:cxnSp>
        <p:nvCxnSpPr>
          <p:cNvPr id="18" name="Connector 18"/>
          <p:cNvCxnSpPr/>
          <p:nvPr/>
        </p:nvCxnSpPr>
        <p:spPr>
          <a:xfrm rot="-20961">
            <a:off x="9042419" y="2457450"/>
            <a:ext cx="2082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9" name="AutoShape 19"/>
          <p:cNvSpPr/>
          <p:nvPr/>
        </p:nvSpPr>
        <p:spPr>
          <a:xfrm>
            <a:off x="9042400" y="2590800"/>
            <a:ext cx="2082800" cy="279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传播转化数据回流图谱，洞察用户真实偏好，指导产品持续优化迭代，实现增长数据驱动产品创新。</a:t>
            </a:r>
            <a:endParaRPr lang="en-US" sz="11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0D1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4.4 系统级增长：不是单点，是完整生命体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524000"/>
            <a:ext cx="4826000" cy="4572000"/>
          </a:xfrm>
          <a:prstGeom prst="roundRect">
            <a:avLst>
              <a:gd name="adj" fmla="val 2777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FFFFFF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6000" y="1778000"/>
            <a:ext cx="304800" cy="3048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1397000" y="1752600"/>
            <a:ext cx="381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5757"/>
                </a:solidFill>
                <a:latin typeface="Noto Sans SC"/>
                <a:ea typeface="Noto Sans SC"/>
                <a:cs typeface="Noto Sans SC"/>
                <a:sym typeface="Noto Sans SC"/>
              </a:rPr>
              <a:t>传统：碎片化增长的弊端</a:t>
            </a:r>
            <a:endParaRPr lang="en-US" sz="1100"/>
          </a:p>
        </p:txBody>
      </p:sp>
      <p:cxnSp>
        <p:nvCxnSpPr>
          <p:cNvPr id="6" name="Connector 6"/>
          <p:cNvCxnSpPr/>
          <p:nvPr/>
        </p:nvCxnSpPr>
        <p:spPr>
          <a:xfrm rot="-10110">
            <a:off x="1016009" y="2216150"/>
            <a:ext cx="431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6000" y="2476500"/>
            <a:ext cx="304800" cy="3048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397000" y="2438400"/>
            <a:ext cx="3937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单点作战，缺乏合力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9CA3AF"/>
                </a:solidFill>
                <a:latin typeface="Noto Sans SC"/>
                <a:ea typeface="Noto Sans SC"/>
                <a:cs typeface="Noto Sans SC"/>
                <a:sym typeface="Noto Sans SC"/>
              </a:rPr>
              <a:t>广告、文章、活动各自为战，环节割裂无法形成协同效应。</a:t>
            </a:r>
            <a:endParaRPr lang="en-US" sz="1400" b="0" i="0" u="none" strike="noStrike">
              <a:solidFill>
                <a:srgbClr val="9CA3AF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16000" y="3365500"/>
            <a:ext cx="304800" cy="3048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1397000" y="3327400"/>
            <a:ext cx="3937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结构残缺，难以存活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9CA3AF"/>
                </a:solidFill>
                <a:latin typeface="Noto Sans SC"/>
                <a:ea typeface="Noto Sans SC"/>
                <a:cs typeface="Noto Sans SC"/>
                <a:sym typeface="Noto Sans SC"/>
              </a:rPr>
              <a:t>如同只装了心脏却无血液肝脏，缺乏自我造血与修复能力。</a:t>
            </a:r>
            <a:endParaRPr lang="en-US" sz="1400" b="0" i="0" u="none" strike="noStrike">
              <a:solidFill>
                <a:srgbClr val="9CA3AF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6096000" y="1524000"/>
            <a:ext cx="5334000" cy="4572000"/>
          </a:xfrm>
          <a:prstGeom prst="roundRect">
            <a:avLst>
              <a:gd name="adj" fmla="val 2777"/>
            </a:avLst>
          </a:prstGeom>
          <a:solidFill>
            <a:srgbClr val="0A2A4E">
              <a:alpha val="60000"/>
            </a:srgbClr>
          </a:solidFill>
          <a:ln w="12700" cap="flat" cmpd="sng">
            <a:solidFill>
              <a:srgbClr val="00BFFF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350000" y="1778000"/>
            <a:ext cx="304800" cy="3048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6731000" y="1752600"/>
            <a:ext cx="444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我们：系统级增长生命体</a:t>
            </a:r>
            <a:endParaRPr lang="en-US" sz="1100"/>
          </a:p>
        </p:txBody>
      </p:sp>
      <p:cxnSp>
        <p:nvCxnSpPr>
          <p:cNvPr id="14" name="Connector 14"/>
          <p:cNvCxnSpPr/>
          <p:nvPr/>
        </p:nvCxnSpPr>
        <p:spPr>
          <a:xfrm rot="-9046">
            <a:off x="6350008" y="2216150"/>
            <a:ext cx="482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5" name="AutoShape 15"/>
          <p:cNvSpPr/>
          <p:nvPr/>
        </p:nvSpPr>
        <p:spPr>
          <a:xfrm>
            <a:off x="6350000" y="2413000"/>
            <a:ext cx="4826000" cy="609600"/>
          </a:xfrm>
          <a:prstGeom prst="roundRect">
            <a:avLst>
              <a:gd name="adj" fmla="val 10416"/>
            </a:avLst>
          </a:prstGeom>
          <a:solidFill>
            <a:srgbClr val="00BFFF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477000" y="2540000"/>
            <a:ext cx="304800" cy="3048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6858000" y="2514600"/>
            <a:ext cx="406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流量系统：</a:t>
            </a:r>
            <a:r>
              <a:rPr lang="en-US" sz="1400" b="0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构建多渠道、高精准的获客网络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6350000" y="3111500"/>
            <a:ext cx="4826000" cy="609600"/>
          </a:xfrm>
          <a:prstGeom prst="roundRect">
            <a:avLst>
              <a:gd name="adj" fmla="val 10416"/>
            </a:avLst>
          </a:prstGeom>
          <a:solidFill>
            <a:srgbClr val="00BFFF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477000" y="3238500"/>
            <a:ext cx="304800" cy="304800"/>
          </a:xfrm>
          <a:prstGeom prst="rect">
            <a:avLst/>
          </a:prstGeom>
        </p:spPr>
      </p:pic>
      <p:sp>
        <p:nvSpPr>
          <p:cNvPr id="20" name="AutoShape 20"/>
          <p:cNvSpPr/>
          <p:nvPr/>
        </p:nvSpPr>
        <p:spPr>
          <a:xfrm>
            <a:off x="6858000" y="3213100"/>
            <a:ext cx="406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内容系统：</a:t>
            </a:r>
            <a:r>
              <a:rPr lang="en-US" sz="1400" b="0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持续输出高价值内容，建立用户信任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6350000" y="3810000"/>
            <a:ext cx="4826000" cy="609600"/>
          </a:xfrm>
          <a:prstGeom prst="roundRect">
            <a:avLst>
              <a:gd name="adj" fmla="val 10416"/>
            </a:avLst>
          </a:prstGeom>
          <a:solidFill>
            <a:srgbClr val="00BFFF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477000" y="3937000"/>
            <a:ext cx="304800" cy="304800"/>
          </a:xfrm>
          <a:prstGeom prst="rect">
            <a:avLst/>
          </a:prstGeom>
        </p:spPr>
      </p:pic>
      <p:sp>
        <p:nvSpPr>
          <p:cNvPr id="23" name="AutoShape 23"/>
          <p:cNvSpPr/>
          <p:nvPr/>
        </p:nvSpPr>
        <p:spPr>
          <a:xfrm>
            <a:off x="6858000" y="3911600"/>
            <a:ext cx="406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转化系统：</a:t>
            </a:r>
            <a:r>
              <a:rPr lang="en-US" sz="1400" b="0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精细化运营流程，最大化商业变现效率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6350000" y="4508500"/>
            <a:ext cx="4826000" cy="609600"/>
          </a:xfrm>
          <a:prstGeom prst="roundRect">
            <a:avLst>
              <a:gd name="adj" fmla="val 10416"/>
            </a:avLst>
          </a:prstGeom>
          <a:solidFill>
            <a:srgbClr val="00BFFF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5" name="Picture 25"/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6477000" y="4635500"/>
            <a:ext cx="304800" cy="304800"/>
          </a:xfrm>
          <a:prstGeom prst="rect">
            <a:avLst/>
          </a:prstGeom>
        </p:spPr>
      </p:pic>
      <p:sp>
        <p:nvSpPr>
          <p:cNvPr id="26" name="AutoShape 26"/>
          <p:cNvSpPr/>
          <p:nvPr/>
        </p:nvSpPr>
        <p:spPr>
          <a:xfrm>
            <a:off x="6858000" y="4610100"/>
            <a:ext cx="406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产品系统：</a:t>
            </a:r>
            <a:r>
              <a:rPr lang="en-US" sz="1400" b="0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以用户为中心的迭代引擎，驱动复购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6350000" y="5207000"/>
            <a:ext cx="4826000" cy="609600"/>
          </a:xfrm>
          <a:prstGeom prst="roundRect">
            <a:avLst>
              <a:gd name="adj" fmla="val 10416"/>
            </a:avLst>
          </a:prstGeom>
          <a:solidFill>
            <a:srgbClr val="00BFFF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8" name="Picture 28"/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6477000" y="5334000"/>
            <a:ext cx="304800" cy="304800"/>
          </a:xfrm>
          <a:prstGeom prst="rect">
            <a:avLst/>
          </a:prstGeom>
        </p:spPr>
      </p:pic>
      <p:sp>
        <p:nvSpPr>
          <p:cNvPr id="29" name="AutoShape 29"/>
          <p:cNvSpPr/>
          <p:nvPr/>
        </p:nvSpPr>
        <p:spPr>
          <a:xfrm>
            <a:off x="6858000" y="5308600"/>
            <a:ext cx="406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品牌系统：</a:t>
            </a:r>
            <a:r>
              <a:rPr lang="en-US" sz="1400" b="0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沉淀品牌资产，实现长期可持续溢价</a:t>
            </a:r>
            <a:endParaRPr lang="en-US" sz="11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0D1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-1270000" y="-1270000"/>
            <a:ext cx="5080000" cy="5080000"/>
          </a:xfrm>
          <a:prstGeom prst="ellipse">
            <a:avLst/>
          </a:prstGeom>
          <a:solidFill>
            <a:srgbClr val="00BFFF">
              <a:alpha val="5000"/>
            </a:srgbClr>
          </a:solidFill>
          <a:ln cap="flat" cmpd="sng">
            <a:solidFill>
              <a:srgbClr val="00ACE6">
                <a:alpha val="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0" y="2540000"/>
            <a:ext cx="6350000" cy="6350000"/>
          </a:xfrm>
          <a:prstGeom prst="ellipse">
            <a:avLst/>
          </a:prstGeom>
          <a:solidFill>
            <a:srgbClr val="0A2A4E">
              <a:alpha val="30000"/>
            </a:srgbClr>
          </a:solidFill>
          <a:ln cap="flat" cmpd="sng">
            <a:solidFill>
              <a:srgbClr val="011935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0" y="1778000"/>
            <a:ext cx="12192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9600" b="1" i="0" u="none" strike="noStrike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05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0" y="3429000"/>
            <a:ext cx="1219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新品全周期</a:t>
            </a:r>
            <a:r>
              <a:rPr lang="zh-CN" altLang="en-US" sz="3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交付</a:t>
            </a:r>
            <a:endParaRPr lang="zh-CN" altLang="en-US" sz="3600" b="1" i="0" u="none" strike="noStrike">
              <a:solidFill>
                <a:srgbClr val="FFFFFF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cxnSp>
        <p:nvCxnSpPr>
          <p:cNvPr id="6" name="Connector 6"/>
          <p:cNvCxnSpPr/>
          <p:nvPr/>
        </p:nvCxnSpPr>
        <p:spPr>
          <a:xfrm rot="-42969">
            <a:off x="5588040" y="4375150"/>
            <a:ext cx="101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00BFFF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7" name="AutoShape 7"/>
          <p:cNvSpPr/>
          <p:nvPr/>
        </p:nvSpPr>
        <p:spPr>
          <a:xfrm>
            <a:off x="0" y="4572000"/>
            <a:ext cx="1219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0" i="0" u="none" strike="noStrike" spc="200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四阶段 AI 增长实战打法</a:t>
            </a:r>
            <a:endParaRPr lang="en-US" sz="1100"/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943600" y="5461000"/>
            <a:ext cx="304800" cy="3048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0D1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5.1 各阶段痛点 → 解决方案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524000"/>
            <a:ext cx="5207000" cy="2349500"/>
          </a:xfrm>
          <a:prstGeom prst="roundRect">
            <a:avLst>
              <a:gd name="adj" fmla="val 5405"/>
            </a:avLst>
          </a:prstGeom>
          <a:solidFill>
            <a:srgbClr val="0A2A4E">
              <a:alpha val="100000"/>
            </a:srgbClr>
          </a:solidFill>
          <a:ln cap="flat" cmpd="sng">
            <a:solidFill>
              <a:srgbClr val="011935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6000" y="1714500"/>
            <a:ext cx="355600" cy="3556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1460500" y="1676400"/>
            <a:ext cx="3810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筹备期：定位与壁垒</a:t>
            </a:r>
            <a:endParaRPr lang="en-US" sz="1100"/>
          </a:p>
        </p:txBody>
      </p:sp>
      <p:cxnSp>
        <p:nvCxnSpPr>
          <p:cNvPr id="6" name="Connector 6"/>
          <p:cNvCxnSpPr/>
          <p:nvPr/>
        </p:nvCxnSpPr>
        <p:spPr>
          <a:xfrm rot="-9291">
            <a:off x="1016009" y="2152650"/>
            <a:ext cx="4699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6000" y="2311400"/>
            <a:ext cx="254000" cy="2540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333500" y="2286000"/>
            <a:ext cx="43815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C8C8C8"/>
                </a:solidFill>
                <a:latin typeface="Noto Sans SC"/>
                <a:ea typeface="Noto Sans SC"/>
                <a:cs typeface="Noto Sans SC"/>
                <a:sym typeface="Noto Sans SC"/>
              </a:rPr>
              <a:t>痛点：需求模糊，陷入竞品内卷，定位不清。</a:t>
            </a:r>
            <a:endParaRPr lang="en-US" sz="1100"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16000" y="2819400"/>
            <a:ext cx="254000" cy="2540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1333500" y="2794000"/>
            <a:ext cx="4381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方案：运用四大图谱进行精准定位，锁定核心场景与人群，建立内容壁垒。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6223000" y="1524000"/>
            <a:ext cx="5207000" cy="2349500"/>
          </a:xfrm>
          <a:prstGeom prst="roundRect">
            <a:avLst>
              <a:gd name="adj" fmla="val 5405"/>
            </a:avLst>
          </a:prstGeom>
          <a:solidFill>
            <a:srgbClr val="0A2A4E">
              <a:alpha val="100000"/>
            </a:srgbClr>
          </a:solidFill>
          <a:ln cap="flat" cmpd="sng">
            <a:solidFill>
              <a:srgbClr val="011935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477000" y="1714500"/>
            <a:ext cx="355600" cy="3556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6921500" y="1676400"/>
            <a:ext cx="3810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首发期：破圈与信任</a:t>
            </a:r>
            <a:endParaRPr lang="en-US" sz="1100"/>
          </a:p>
        </p:txBody>
      </p:sp>
      <p:cxnSp>
        <p:nvCxnSpPr>
          <p:cNvPr id="14" name="Connector 14"/>
          <p:cNvCxnSpPr/>
          <p:nvPr/>
        </p:nvCxnSpPr>
        <p:spPr>
          <a:xfrm rot="-9291">
            <a:off x="6477009" y="2152650"/>
            <a:ext cx="4699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5" name="Picture 1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77000" y="2311400"/>
            <a:ext cx="254000" cy="2540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6794500" y="2286000"/>
            <a:ext cx="43815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C8C8C8"/>
                </a:solidFill>
                <a:latin typeface="Noto Sans SC"/>
                <a:ea typeface="Noto Sans SC"/>
                <a:cs typeface="Noto Sans SC"/>
                <a:sym typeface="Noto Sans SC"/>
              </a:rPr>
              <a:t>痛点：新品曝光低，信任度不足，传统方法见效慢。</a:t>
            </a:r>
            <a:endParaRPr lang="en-US" sz="1100"/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477000" y="2819400"/>
            <a:ext cx="254000" cy="2540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6794500" y="2794000"/>
            <a:ext cx="4381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方案：AI平台精准内容投喂占领搜索入口，配合自主运营建立真实信任，实现首发破圈。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762000" y="4127500"/>
            <a:ext cx="5207000" cy="2349500"/>
          </a:xfrm>
          <a:prstGeom prst="roundRect">
            <a:avLst>
              <a:gd name="adj" fmla="val 5405"/>
            </a:avLst>
          </a:prstGeom>
          <a:solidFill>
            <a:srgbClr val="0A2A4E">
              <a:alpha val="100000"/>
            </a:srgbClr>
          </a:solidFill>
          <a:ln cap="flat" cmpd="sng">
            <a:solidFill>
              <a:srgbClr val="011935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16000" y="4318000"/>
            <a:ext cx="355600" cy="355600"/>
          </a:xfrm>
          <a:prstGeom prst="rect">
            <a:avLst/>
          </a:prstGeom>
        </p:spPr>
      </p:pic>
      <p:sp>
        <p:nvSpPr>
          <p:cNvPr id="21" name="AutoShape 21"/>
          <p:cNvSpPr/>
          <p:nvPr/>
        </p:nvSpPr>
        <p:spPr>
          <a:xfrm>
            <a:off x="1460500" y="4279900"/>
            <a:ext cx="3810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爆发期：规模与转化</a:t>
            </a:r>
            <a:endParaRPr lang="en-US" sz="1100"/>
          </a:p>
        </p:txBody>
      </p:sp>
      <p:cxnSp>
        <p:nvCxnSpPr>
          <p:cNvPr id="22" name="Connector 22"/>
          <p:cNvCxnSpPr/>
          <p:nvPr/>
        </p:nvCxnSpPr>
        <p:spPr>
          <a:xfrm rot="-9291">
            <a:off x="1016009" y="4756150"/>
            <a:ext cx="4699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23" name="Picture 2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6000" y="4914900"/>
            <a:ext cx="254000" cy="254000"/>
          </a:xfrm>
          <a:prstGeom prst="rect">
            <a:avLst/>
          </a:prstGeom>
        </p:spPr>
      </p:pic>
      <p:sp>
        <p:nvSpPr>
          <p:cNvPr id="24" name="AutoShape 24"/>
          <p:cNvSpPr/>
          <p:nvPr/>
        </p:nvSpPr>
        <p:spPr>
          <a:xfrm>
            <a:off x="1333500" y="4889500"/>
            <a:ext cx="43815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C8C8C8"/>
                </a:solidFill>
                <a:latin typeface="Noto Sans SC"/>
                <a:ea typeface="Noto Sans SC"/>
                <a:cs typeface="Noto Sans SC"/>
                <a:sym typeface="Noto Sans SC"/>
              </a:rPr>
              <a:t>痛点：流量不稳定，转化效率低，内容生产滞后。</a:t>
            </a:r>
            <a:endParaRPr lang="en-US" sz="1100"/>
          </a:p>
        </p:txBody>
      </p:sp>
      <p:pic>
        <p:nvPicPr>
          <p:cNvPr id="25" name="Picture 2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16000" y="5422900"/>
            <a:ext cx="254000" cy="254000"/>
          </a:xfrm>
          <a:prstGeom prst="rect">
            <a:avLst/>
          </a:prstGeom>
        </p:spPr>
      </p:pic>
      <p:sp>
        <p:nvSpPr>
          <p:cNvPr id="26" name="AutoShape 26"/>
          <p:cNvSpPr/>
          <p:nvPr/>
        </p:nvSpPr>
        <p:spPr>
          <a:xfrm>
            <a:off x="1333500" y="5397500"/>
            <a:ext cx="4381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方案：精准放大高转化渠道，利用AI自动化生成海量内容，优化模型实现流量与转化双增长。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6223000" y="4127500"/>
            <a:ext cx="5207000" cy="2349500"/>
          </a:xfrm>
          <a:prstGeom prst="roundRect">
            <a:avLst>
              <a:gd name="adj" fmla="val 5405"/>
            </a:avLst>
          </a:prstGeom>
          <a:solidFill>
            <a:srgbClr val="0A2A4E">
              <a:alpha val="100000"/>
            </a:srgbClr>
          </a:solidFill>
          <a:ln cap="flat" cmpd="sng">
            <a:solidFill>
              <a:srgbClr val="011935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8" name="Picture 28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477000" y="4318000"/>
            <a:ext cx="355600" cy="355600"/>
          </a:xfrm>
          <a:prstGeom prst="rect">
            <a:avLst/>
          </a:prstGeom>
        </p:spPr>
      </p:pic>
      <p:sp>
        <p:nvSpPr>
          <p:cNvPr id="29" name="AutoShape 29"/>
          <p:cNvSpPr/>
          <p:nvPr/>
        </p:nvSpPr>
        <p:spPr>
          <a:xfrm>
            <a:off x="6921500" y="4279900"/>
            <a:ext cx="3810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沉淀期：反哺与壁垒</a:t>
            </a:r>
            <a:endParaRPr lang="en-US" sz="1100"/>
          </a:p>
        </p:txBody>
      </p:sp>
      <p:cxnSp>
        <p:nvCxnSpPr>
          <p:cNvPr id="30" name="Connector 30"/>
          <p:cNvCxnSpPr/>
          <p:nvPr/>
        </p:nvCxnSpPr>
        <p:spPr>
          <a:xfrm rot="-9291">
            <a:off x="6477009" y="4756150"/>
            <a:ext cx="4699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31" name="Picture 3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77000" y="4914900"/>
            <a:ext cx="254000" cy="254000"/>
          </a:xfrm>
          <a:prstGeom prst="rect">
            <a:avLst/>
          </a:prstGeom>
        </p:spPr>
      </p:pic>
      <p:sp>
        <p:nvSpPr>
          <p:cNvPr id="32" name="AutoShape 32"/>
          <p:cNvSpPr/>
          <p:nvPr/>
        </p:nvSpPr>
        <p:spPr>
          <a:xfrm>
            <a:off x="6794500" y="4889500"/>
            <a:ext cx="43815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C8C8C8"/>
                </a:solidFill>
                <a:latin typeface="Noto Sans SC"/>
                <a:ea typeface="Noto Sans SC"/>
                <a:cs typeface="Noto Sans SC"/>
                <a:sym typeface="Noto Sans SC"/>
              </a:rPr>
              <a:t>痛点：增长遇瓶颈，复购率低，产品迭代缺乏数据支撑。</a:t>
            </a:r>
            <a:endParaRPr lang="en-US" sz="1100"/>
          </a:p>
        </p:txBody>
      </p:sp>
      <p:pic>
        <p:nvPicPr>
          <p:cNvPr id="33" name="Picture 3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477000" y="5422900"/>
            <a:ext cx="254000" cy="254000"/>
          </a:xfrm>
          <a:prstGeom prst="rect">
            <a:avLst/>
          </a:prstGeom>
        </p:spPr>
      </p:pic>
      <p:sp>
        <p:nvSpPr>
          <p:cNvPr id="34" name="AutoShape 34"/>
          <p:cNvSpPr/>
          <p:nvPr/>
        </p:nvSpPr>
        <p:spPr>
          <a:xfrm>
            <a:off x="6794500" y="5397500"/>
            <a:ext cx="4381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方案：深度分析全链路数据反哺产品迭代，持续巩固AI平台品牌认知，构建长期增长护城河。</a:t>
            </a:r>
            <a:endParaRPr lang="en-US" sz="11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0D1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课程总结：你将带走的3大核心能力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651000"/>
            <a:ext cx="3302000" cy="4064000"/>
          </a:xfrm>
          <a:prstGeom prst="roundRect">
            <a:avLst>
              <a:gd name="adj" fmla="val 3846"/>
            </a:avLst>
          </a:prstGeom>
          <a:solidFill>
            <a:srgbClr val="0A2A4E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000000">
                <a:alpha val="3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79500" y="1968500"/>
            <a:ext cx="609600" cy="6096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1079500" y="2667000"/>
            <a:ext cx="2667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01 懂底层</a:t>
            </a:r>
            <a:endParaRPr lang="en-US" sz="1100"/>
          </a:p>
        </p:txBody>
      </p:sp>
      <p:cxnSp>
        <p:nvCxnSpPr>
          <p:cNvPr id="6" name="Connector 6"/>
          <p:cNvCxnSpPr/>
          <p:nvPr/>
        </p:nvCxnSpPr>
        <p:spPr>
          <a:xfrm rot="-16370">
            <a:off x="1079515" y="3168650"/>
            <a:ext cx="2667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BFFF">
                <a:alpha val="5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" name="AutoShape 7"/>
          <p:cNvSpPr/>
          <p:nvPr/>
        </p:nvSpPr>
        <p:spPr>
          <a:xfrm>
            <a:off x="1079500" y="3302000"/>
            <a:ext cx="2667000" cy="215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彻底看透从广告竞价到AI增长的流量本质，不再被新概念迷惑，直击问题核心。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4445000" y="1651000"/>
            <a:ext cx="3302000" cy="4064000"/>
          </a:xfrm>
          <a:prstGeom prst="roundRect">
            <a:avLst>
              <a:gd name="adj" fmla="val 3846"/>
            </a:avLst>
          </a:prstGeom>
          <a:solidFill>
            <a:srgbClr val="0A2A4E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000000">
                <a:alpha val="3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62500" y="1968500"/>
            <a:ext cx="609600" cy="6096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4762500" y="2667000"/>
            <a:ext cx="2667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02 懂商业</a:t>
            </a:r>
            <a:endParaRPr lang="en-US" sz="1100"/>
          </a:p>
        </p:txBody>
      </p:sp>
      <p:cxnSp>
        <p:nvCxnSpPr>
          <p:cNvPr id="11" name="Connector 11"/>
          <p:cNvCxnSpPr/>
          <p:nvPr/>
        </p:nvCxnSpPr>
        <p:spPr>
          <a:xfrm rot="-16370">
            <a:off x="4762515" y="3168650"/>
            <a:ext cx="2667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BFFF">
                <a:alpha val="5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" name="AutoShape 12"/>
          <p:cNvSpPr/>
          <p:nvPr/>
        </p:nvSpPr>
        <p:spPr>
          <a:xfrm>
            <a:off x="4762500" y="3302000"/>
            <a:ext cx="2667000" cy="215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具备老板级决策思维，用量化、ROI和风控视角审视增长动作，确保每一分投入都产生价值。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8128000" y="1651000"/>
            <a:ext cx="3302000" cy="4064000"/>
          </a:xfrm>
          <a:prstGeom prst="roundRect">
            <a:avLst>
              <a:gd name="adj" fmla="val 3846"/>
            </a:avLst>
          </a:prstGeom>
          <a:solidFill>
            <a:srgbClr val="0A2A4E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000000">
                <a:alpha val="3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445500" y="1968500"/>
            <a:ext cx="609600" cy="6096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8445500" y="2667000"/>
            <a:ext cx="2667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03 懂落地</a:t>
            </a:r>
            <a:endParaRPr lang="en-US" sz="1100"/>
          </a:p>
        </p:txBody>
      </p:sp>
      <p:cxnSp>
        <p:nvCxnSpPr>
          <p:cNvPr id="16" name="Connector 16"/>
          <p:cNvCxnSpPr/>
          <p:nvPr/>
        </p:nvCxnSpPr>
        <p:spPr>
          <a:xfrm rot="-16370">
            <a:off x="8445515" y="3168650"/>
            <a:ext cx="2667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BFFF">
                <a:alpha val="5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" name="AutoShape 17"/>
          <p:cNvSpPr/>
          <p:nvPr/>
        </p:nvSpPr>
        <p:spPr>
          <a:xfrm>
            <a:off x="8445500" y="3302000"/>
            <a:ext cx="2667000" cy="215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掌握可复制、可落地的AI增长全系统打法，为新品发布量身定制从0到爆发的完整解决方案。</a:t>
            </a:r>
            <a:endParaRPr lang="en-US" sz="11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0D1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16000" y="749300"/>
            <a:ext cx="1016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感谢聆听 | 实战答疑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1016000" y="1511300"/>
            <a:ext cx="1016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欢迎交流探讨，共同解决业务增长难题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270000" y="2182495"/>
            <a:ext cx="4572000" cy="1846580"/>
          </a:xfrm>
          <a:prstGeom prst="roundRect">
            <a:avLst>
              <a:gd name="adj" fmla="val 5555"/>
            </a:avLst>
          </a:prstGeom>
          <a:solidFill>
            <a:srgbClr val="0A2A4E">
              <a:alpha val="100000"/>
            </a:srgbClr>
          </a:solidFill>
          <a:ln cap="flat" cmpd="sng">
            <a:solidFill>
              <a:srgbClr val="011935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651000" y="2563495"/>
            <a:ext cx="609600" cy="49276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2413000" y="2563495"/>
            <a:ext cx="3302000" cy="30797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新品AI增长自查表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651000" y="3261995"/>
            <a:ext cx="3683000" cy="61595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6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涵盖核心指标、用户路径与转化漏斗，快速定位增长瓶颈。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6350000" y="2182495"/>
            <a:ext cx="4572000" cy="1846580"/>
          </a:xfrm>
          <a:prstGeom prst="roundRect">
            <a:avLst>
              <a:gd name="adj" fmla="val 5555"/>
            </a:avLst>
          </a:prstGeom>
          <a:solidFill>
            <a:srgbClr val="0A2A4E">
              <a:alpha val="100000"/>
            </a:srgbClr>
          </a:solidFill>
          <a:ln cap="flat" cmpd="sng">
            <a:solidFill>
              <a:srgbClr val="011935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731000" y="2563495"/>
            <a:ext cx="609600" cy="49276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7493000" y="2563495"/>
            <a:ext cx="3302000" cy="30797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四大图谱搭建框架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6731000" y="3261995"/>
            <a:ext cx="3683000" cy="61595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6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包含用户、商品、内容及策略图谱，构建完整的数据驱动体系。</a:t>
            </a:r>
            <a:endParaRPr lang="en-US" sz="1100"/>
          </a:p>
        </p:txBody>
      </p:sp>
      <p:pic>
        <p:nvPicPr>
          <p:cNvPr id="13" name="图片 12" descr="图怪兽_立体几何引导关注二维码_副本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49750" y="4387215"/>
            <a:ext cx="2990850" cy="224345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2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3925</Words>
  <Application>WPS 演示</Application>
  <PresentationFormat/>
  <Paragraphs>397</Paragraphs>
  <Slides>23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4</vt:i4>
      </vt:variant>
      <vt:variant>
        <vt:lpstr>幻灯片标题</vt:lpstr>
      </vt:variant>
      <vt:variant>
        <vt:i4>23</vt:i4>
      </vt:variant>
    </vt:vector>
  </HeadingPairs>
  <TitlesOfParts>
    <vt:vector size="40" baseType="lpstr">
      <vt:lpstr>Arial</vt:lpstr>
      <vt:lpstr>宋体</vt:lpstr>
      <vt:lpstr>Wingdings</vt:lpstr>
      <vt:lpstr>Arial</vt:lpstr>
      <vt:lpstr>Noto Sans SC</vt:lpstr>
      <vt:lpstr>Thonburi</vt:lpstr>
      <vt:lpstr>宋体</vt:lpstr>
      <vt:lpstr>汉仪书宋二KW</vt:lpstr>
      <vt:lpstr>微软雅黑</vt:lpstr>
      <vt:lpstr>汉仪旗黑</vt:lpstr>
      <vt:lpstr>Arial Unicode MS</vt:lpstr>
      <vt:lpstr>Noto Sans SC</vt:lpstr>
      <vt:lpstr>苹方-简</vt:lpstr>
      <vt:lpstr>Office 主题​​</vt:lpstr>
      <vt:lpstr>默认主题</vt:lpstr>
      <vt:lpstr>1_默认主题</vt:lpstr>
      <vt:lpstr>2_默认主题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傲雪</cp:lastModifiedBy>
  <cp:revision>2</cp:revision>
  <dcterms:created xsi:type="dcterms:W3CDTF">2026-02-27T20:53:46Z</dcterms:created>
  <dcterms:modified xsi:type="dcterms:W3CDTF">2026-02-27T20:53:46Z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F37AB634BB320FC0DE969F69DFE9569B_42</vt:lpwstr>
  </property>
  <property fmtid="{D5CDD505-2E9C-101B-9397-08002B2CF9AE}" pid="3" name="KSOProductBuildVer">
    <vt:lpwstr>2052-12.1.21861.21861</vt:lpwstr>
  </property>
</Properties>
</file>