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slides/slide21.xml" Type="http://schemas.openxmlformats.org/officeDocument/2006/relationships/slide"/><Relationship Id="rId3" Target="presProps.xml" Type="http://schemas.openxmlformats.org/officeDocument/2006/relationships/presProps"/><Relationship Id="rId30" Target="slides/slide22.xml" Type="http://schemas.openxmlformats.org/officeDocument/2006/relationships/slide"/><Relationship Id="rId31" Target="notesSlides/notesSlide1.xml" Type="http://schemas.openxmlformats.org/officeDocument/2006/relationships/notesSlide"/><Relationship Id="rId32" Target="notesSlides/notesSlide2.xml" Type="http://schemas.openxmlformats.org/officeDocument/2006/relationships/notesSlide"/><Relationship Id="rId33" Target="notesSlides/notesSlide3.xml" Type="http://schemas.openxmlformats.org/officeDocument/2006/relationships/notesSlide"/><Relationship Id="rId34" Target="notesSlides/notesSlide4.xml" Type="http://schemas.openxmlformats.org/officeDocument/2006/relationships/notesSlide"/><Relationship Id="rId35" Target="notesSlides/notesSlide5.xml" Type="http://schemas.openxmlformats.org/officeDocument/2006/relationships/notesSlide"/><Relationship Id="rId36" Target="notesSlides/notesSlide6.xml" Type="http://schemas.openxmlformats.org/officeDocument/2006/relationships/notesSlide"/><Relationship Id="rId37" Target="notesSlides/notesSlide7.xml" Type="http://schemas.openxmlformats.org/officeDocument/2006/relationships/notesSlide"/><Relationship Id="rId38" Target="notesSlides/notesSlide8.xml" Type="http://schemas.openxmlformats.org/officeDocument/2006/relationships/notesSlide"/><Relationship Id="rId39" Target="notesSlides/notesSlide9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0.xml" Type="http://schemas.openxmlformats.org/officeDocument/2006/relationships/notesSlide"/><Relationship Id="rId41" Target="notesSlides/notesSlide11.xml" Type="http://schemas.openxmlformats.org/officeDocument/2006/relationships/notesSlide"/><Relationship Id="rId42" Target="notesSlides/notesSlide12.xml" Type="http://schemas.openxmlformats.org/officeDocument/2006/relationships/notesSlide"/><Relationship Id="rId43" Target="notesSlides/notesSlide13.xml" Type="http://schemas.openxmlformats.org/officeDocument/2006/relationships/notesSlide"/><Relationship Id="rId44" Target="notesSlides/notesSlide14.xml" Type="http://schemas.openxmlformats.org/officeDocument/2006/relationships/notesSlide"/><Relationship Id="rId45" Target="notesSlides/notesSlide15.xml" Type="http://schemas.openxmlformats.org/officeDocument/2006/relationships/notesSlide"/><Relationship Id="rId46" Target="notesSlides/notesSlide16.xml" Type="http://schemas.openxmlformats.org/officeDocument/2006/relationships/notesSlide"/><Relationship Id="rId47" Target="notesSlides/notesSlide17.xml" Type="http://schemas.openxmlformats.org/officeDocument/2006/relationships/notesSlide"/><Relationship Id="rId48" Target="notesSlides/notesSlide18.xml" Type="http://schemas.openxmlformats.org/officeDocument/2006/relationships/notesSlide"/><Relationship Id="rId49" Target="notesSlides/notesSlide19.xml" Type="http://schemas.openxmlformats.org/officeDocument/2006/relationships/notesSlide"/><Relationship Id="rId50" Target="notesSlides/notesSlide20.xml" Type="http://schemas.openxmlformats.org/officeDocument/2006/relationships/notesSlide"/><Relationship Id="rId51" Target="notesSlides/notesSlide21.xml" Type="http://schemas.openxmlformats.org/officeDocument/2006/relationships/notesSlide"/><Relationship Id="rId52" Target="notesSlides/notesSlide22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欢迎参加本次课程。今天，我们将共同探讨一个至关重要的话题——在AI时代，新品发布如何实现增长破局。我们将从最根本的“真需求”出发，逐步构建一套完整的全域增长系统。希望通过这次分享，能为大家带来全新的启发和实战的方法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课程将分为五个部分。首先，我们会从宏观视角，分析当前新品增长面临的本质问题和时代挑战。接着，我们会深入剖析传统SEO和GEO方法的局限性。然后，我将为大家介绍我们独创的“四大图谱”增长系统。之后，我们会结合新品发布的四个关键阶段，给出具体的AI增长落地方案。最后，进行总结，提炼出AI增长破局的核心心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好，让我们进入第一部分：破局开篇。在这一章，我们将抛开所有花哨的技巧，回归商业的本质，探讨新品增长真正的核心问题出在哪里。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看到一个残酷的现实：市场上90%的新品最终都会失败。很多人把原因归结为流量不够、营销不行，但我认为，根源在于我们从一开始就错了——我们没有找到用户的真需求。市场上产品同质化严重，大家都在比拼技术参数，却忘了问自己：这个产品，用户真的需要吗？AI的到来更是加速了这一进程，技术不再是护城河。所以，回归本质，找到真需求，才是破局的第一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企业最大的误区，就是用“产品视角”代替了“用户视角”。我们总是热衷于向用户展示我们的技术有多牛、功能有多全，但用户关心的根本不是这些。他们只关心：你能帮我解决什么问题？能给我带来什么价值？在AI时代，技术和功能的门槛越来越低，因此，增长的核心逻辑必须转变：先确保我们的产品对准了用户的真需求，再去谈具体的增长方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认识到问题的本质后，我们再来看看，大家现在普遍采用的传统增长方法，为什么在AI时代救不了新品。这就是我们第二部分要讨论的：传统陷阱。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我们来明确两个概念：SEO和GEO。SEO，也就是搜索引擎优化，是我们非常熟悉的，它的特点是慢，需要长时间的积累。而GEO，生成式引擎优化，是随着AI大模型兴起的新玩法，它的特点是快，但也像火焰一样，需要不断“添柴”，也就是持续投喂内容，否则就会熄灭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两种传统方法，对于新品来说，存在三个致命的短板，我称之为“新品必死坑”。第一是时效坑，SEO太慢，GEO太不稳定，新品根本等不起。第二是风险坑，也就是“AI投毒”，一旦外包团队操作不当，就会给品牌带来长期的负面影响。第三是能力坑，把增长外包出去，企业就失去了核心竞争力，永远只能被动挨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所以，我们得出一个非常重要的结论：AI增长，绝对不能外包。品牌必须亲自掌握、亲自运营、亲自迭代。因为在AI的世界里，品牌的“认知”就是我们的生命线，我们必须自己守护好它的干净和准确。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既然传统方法行不通，那我们该怎么办？接下来，我将为大家介绍我们的破局之道——通过构建四大核心图谱，实现增长体系的全面升维。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我们的核心逻辑，就是放弃传统的单点优化，转而构建一个全域的、系统性的增长体系。传统方法像是在做零散的拼图，而我们的方案，是打造一个能够自我循环、自我优化的增长生命体。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支撑这个增长系统的，是我们的四大核心图谱。渠道图谱帮我们找对路，品类图谱帮我们定好位，场景图谱帮我们讲好故事，产品图谱帮我们做好产品。这四个图谱，构成了新品增长的底层密码。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有了四大图谱之后，我们会通过AI技术进行深度下钻。从数据层开始，经过分析、内容生成，最终落到选题层。这个过程确保了我们的每一个选题、每一篇内容，都来自于用户的真实需求，而不是我们的主观臆断，从源头上杜绝了“AI投毒”的风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这套系统的威力，还不止于增长本身。更重要的是，它能形成一个闭环，用增长中获取的用户洞察，反过来驱动产品的优化和创新。这就形成了一个“增长-产品-再增长”的正向循环。这才是AI时代，打造长销爆款的核心秘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理论讲完了，接下来我们进入实战环节。在第四部分，我将结合新品发布的四个关键阶段，为大家详细拆解每个阶段的痛点和我们对应的AI增长解决方案。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在新品筹备期，最大的痛点是方向不明。我们的AI方案就是利用四大图谱，像指南针一样，帮我们精准找到市场空白和用户需求，同时提前布局内容，为后续的增长打下坚实基础。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到了首发期，我们需要的是快速引爆。我们的方案是利用AI的即时性，迅速让新品在各大AI平台获得曝光，同时用专业、可信的内容，在用户心中建立起品牌形象。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进入爆发期，我们要做的是稳住阵脚，提升效率。通过图谱找到最优质的流量来源并加大投入，同时让AI成为我们的内容生产工厂，源源不断地输出弹药，保障增长的持续性。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在沉淀期，我们的增长系统将发挥更大的价值。它不再仅仅是一个增长工具，更是一个产品创新的引擎。通过数据反哺，让产品越做越好，同时在AI世界里构建起我们的品牌壁垒，实现从新品到长销爆款的蜕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课程的最后，我为大家总结了AI增长破局的五大核心心法，希望能帮助大家更好地理解和运用今天所讲的内容。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这五大心法，分别是：先真需求，再做增长；放弃单点，搭建系统；拒绝外包，自主掌控；图谱打底，内容精准；以及增长驱动，反哺产品。希望大家能牢记这五点，并应用到实际工作中。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我的分享到此结束，非常感谢大家的聆听。希望今天的内容能对大家有所帮助，也期待在未来能与各位一起，共同探索和开启AI增长的全新篇章。谢谢大家！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2.svg" Type="http://schemas.openxmlformats.org/officeDocument/2006/relationships/image"/><Relationship Id="rId11" Target="../media/image13.png" Type="http://schemas.openxmlformats.org/officeDocument/2006/relationships/image"/><Relationship Id="rId12" Target="../media/image14.svg" Type="http://schemas.openxmlformats.org/officeDocument/2006/relationships/image"/><Relationship Id="rId13" Target="../notesSlides/notesSlide2.xml" Type="http://schemas.openxmlformats.org/officeDocument/2006/relationships/notesSlide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2.svg" Type="http://schemas.openxmlformats.org/officeDocument/2006/relationships/image"/><Relationship Id="rId11" Target="../media/image23.png" Type="http://schemas.openxmlformats.org/officeDocument/2006/relationships/image"/><Relationship Id="rId12" Target="../media/image24.svg" Type="http://schemas.openxmlformats.org/officeDocument/2006/relationships/image"/><Relationship Id="rId13" Target="../notesSlides/notesSlide4.xml" Type="http://schemas.openxmlformats.org/officeDocument/2006/relationships/notesSlide"/><Relationship Id="rId2" Target="../media/image4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2.svg" Type="http://schemas.openxmlformats.org/officeDocument/2006/relationships/image"/><Relationship Id="rId11" Target="../media/image33.png" Type="http://schemas.openxmlformats.org/officeDocument/2006/relationships/image"/><Relationship Id="rId12" Target="../media/image34.svg" Type="http://schemas.openxmlformats.org/officeDocument/2006/relationships/image"/><Relationship Id="rId13" Target="../notesSlides/notesSlide5.xml" Type="http://schemas.openxmlformats.org/officeDocument/2006/relationships/notesSlide"/><Relationship Id="rId2" Target="../media/image4.jpeg" Type="http://schemas.openxmlformats.org/officeDocument/2006/relationships/image"/><Relationship Id="rId3" Target="../media/image25.png" Type="http://schemas.openxmlformats.org/officeDocument/2006/relationships/image"/><Relationship Id="rId4" Target="../media/image26.svg" Type="http://schemas.openxmlformats.org/officeDocument/2006/relationships/image"/><Relationship Id="rId5" Target="../media/image27.png" Type="http://schemas.openxmlformats.org/officeDocument/2006/relationships/image"/><Relationship Id="rId6" Target="../media/image28.svg" Type="http://schemas.openxmlformats.org/officeDocument/2006/relationships/image"/><Relationship Id="rId7" Target="../media/image29.png" Type="http://schemas.openxmlformats.org/officeDocument/2006/relationships/image"/><Relationship Id="rId8" Target="../media/image30.sv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media/image35.png" Type="http://schemas.openxmlformats.org/officeDocument/2006/relationships/image"/><Relationship Id="rId4" Target="../media/image36.svg" Type="http://schemas.openxmlformats.org/officeDocument/2006/relationships/image"/><Relationship Id="rId5" Target="../media/image37.png" Type="http://schemas.openxmlformats.org/officeDocument/2006/relationships/image"/><Relationship Id="rId6" Target="../media/image38.svg" Type="http://schemas.openxmlformats.org/officeDocument/2006/relationships/image"/><Relationship Id="rId7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media/image39.png" Type="http://schemas.openxmlformats.org/officeDocument/2006/relationships/image"/><Relationship Id="rId4" Target="../media/image40.svg" Type="http://schemas.openxmlformats.org/officeDocument/2006/relationships/image"/><Relationship Id="rId5" Target="../media/image41.png" Type="http://schemas.openxmlformats.org/officeDocument/2006/relationships/image"/><Relationship Id="rId6" Target="../media/image42.svg" Type="http://schemas.openxmlformats.org/officeDocument/2006/relationships/image"/><Relationship Id="rId7" Target="../media/image43.png" Type="http://schemas.openxmlformats.org/officeDocument/2006/relationships/image"/><Relationship Id="rId8" Target="../media/image44.svg" Type="http://schemas.openxmlformats.org/officeDocument/2006/relationships/image"/><Relationship Id="rId9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media/image45.png" Type="http://schemas.openxmlformats.org/officeDocument/2006/relationships/image"/><Relationship Id="rId4" Target="../media/image46.svg" Type="http://schemas.openxmlformats.org/officeDocument/2006/relationships/image"/><Relationship Id="rId5" Target="../media/image47.png" Type="http://schemas.openxmlformats.org/officeDocument/2006/relationships/image"/><Relationship Id="rId6" Target="../media/image48.svg" Type="http://schemas.openxmlformats.org/officeDocument/2006/relationships/image"/><Relationship Id="rId7" Target="../media/image41.png" Type="http://schemas.openxmlformats.org/officeDocument/2006/relationships/image"/><Relationship Id="rId8" Target="../media/image42.svg" Type="http://schemas.openxmlformats.org/officeDocument/2006/relationships/image"/><Relationship Id="rId9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media/image49.png" Type="http://schemas.openxmlformats.org/officeDocument/2006/relationships/image"/><Relationship Id="rId4" Target="../media/image50.svg" Type="http://schemas.openxmlformats.org/officeDocument/2006/relationships/image"/><Relationship Id="rId5" Target="../media/image51.png" Type="http://schemas.openxmlformats.org/officeDocument/2006/relationships/image"/><Relationship Id="rId6" Target="../media/image52.svg" Type="http://schemas.openxmlformats.org/officeDocument/2006/relationships/image"/><Relationship Id="rId7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58.svg" Type="http://schemas.openxmlformats.org/officeDocument/2006/relationships/image"/><Relationship Id="rId11" Target="../notesSlides/notesSlide12.xml" Type="http://schemas.openxmlformats.org/officeDocument/2006/relationships/notesSlide"/><Relationship Id="rId2" Target="../media/image4.jpeg" Type="http://schemas.openxmlformats.org/officeDocument/2006/relationships/image"/><Relationship Id="rId3" Target="../media/image53.png" Type="http://schemas.openxmlformats.org/officeDocument/2006/relationships/image"/><Relationship Id="rId4" Target="../media/image54.svg" Type="http://schemas.openxmlformats.org/officeDocument/2006/relationships/image"/><Relationship Id="rId5" Target="../media/image55.png" Type="http://schemas.openxmlformats.org/officeDocument/2006/relationships/image"/><Relationship Id="rId6" Target="../media/image56.svg" Type="http://schemas.openxmlformats.org/officeDocument/2006/relationships/image"/><Relationship Id="rId7" Target="../media/image2.png" Type="http://schemas.openxmlformats.org/officeDocument/2006/relationships/image"/><Relationship Id="rId8" Target="../media/image3.svg" Type="http://schemas.openxmlformats.org/officeDocument/2006/relationships/image"/><Relationship Id="rId9" Target="../media/image5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64.svg" Type="http://schemas.openxmlformats.org/officeDocument/2006/relationships/image"/><Relationship Id="rId11" Target="../media/image45.png" Type="http://schemas.openxmlformats.org/officeDocument/2006/relationships/image"/><Relationship Id="rId12" Target="../media/image46.svg" Type="http://schemas.openxmlformats.org/officeDocument/2006/relationships/image"/><Relationship Id="rId13" Target="../notesSlides/notesSlide13.xml" Type="http://schemas.openxmlformats.org/officeDocument/2006/relationships/notesSlide"/><Relationship Id="rId2" Target="../media/image4.jpeg" Type="http://schemas.openxmlformats.org/officeDocument/2006/relationships/image"/><Relationship Id="rId3" Target="../media/image59.png" Type="http://schemas.openxmlformats.org/officeDocument/2006/relationships/image"/><Relationship Id="rId4" Target="../media/image60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61.png" Type="http://schemas.openxmlformats.org/officeDocument/2006/relationships/image"/><Relationship Id="rId8" Target="../media/image62.svg" Type="http://schemas.openxmlformats.org/officeDocument/2006/relationships/image"/><Relationship Id="rId9" Target="../media/image6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media/image59.png" Type="http://schemas.openxmlformats.org/officeDocument/2006/relationships/image"/><Relationship Id="rId4" Target="../media/image60.svg" Type="http://schemas.openxmlformats.org/officeDocument/2006/relationships/image"/><Relationship Id="rId5" Target="../media/image51.png" Type="http://schemas.openxmlformats.org/officeDocument/2006/relationships/image"/><Relationship Id="rId6" Target="../media/image52.svg" Type="http://schemas.openxmlformats.org/officeDocument/2006/relationships/image"/><Relationship Id="rId7" Target="../media/image65.png" Type="http://schemas.openxmlformats.org/officeDocument/2006/relationships/image"/><Relationship Id="rId8" Target="../media/image66.svg" Type="http://schemas.openxmlformats.org/officeDocument/2006/relationships/image"/><Relationship Id="rId9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media/image67.png" Type="http://schemas.openxmlformats.org/officeDocument/2006/relationships/image"/><Relationship Id="rId4" Target="../media/image68.svg" Type="http://schemas.openxmlformats.org/officeDocument/2006/relationships/image"/><Relationship Id="rId5" Target="../media/image53.png" Type="http://schemas.openxmlformats.org/officeDocument/2006/relationships/image"/><Relationship Id="rId6" Target="../media/image54.svg" Type="http://schemas.openxmlformats.org/officeDocument/2006/relationships/image"/><Relationship Id="rId7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media/image45.png" Type="http://schemas.openxmlformats.org/officeDocument/2006/relationships/image"/><Relationship Id="rId4" Target="../media/image46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8.svg" Type="http://schemas.openxmlformats.org/officeDocument/2006/relationships/image"/><Relationship Id="rId11" Target="../notesSlides/notesSlide18.xml" Type="http://schemas.openxmlformats.org/officeDocument/2006/relationships/notesSlide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69.png" Type="http://schemas.openxmlformats.org/officeDocument/2006/relationships/image"/><Relationship Id="rId6" Target="../media/image70.svg" Type="http://schemas.openxmlformats.org/officeDocument/2006/relationships/image"/><Relationship Id="rId7" Target="../media/image21.png" Type="http://schemas.openxmlformats.org/officeDocument/2006/relationships/image"/><Relationship Id="rId8" Target="../media/image22.sv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1.png" Type="http://schemas.openxmlformats.org/officeDocument/2006/relationships/image"/><Relationship Id="rId6" Target="../media/image72.svg" Type="http://schemas.openxmlformats.org/officeDocument/2006/relationships/image"/><Relationship Id="rId7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notesSlides/notesSlide20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56.svg" Type="http://schemas.openxmlformats.org/officeDocument/2006/relationships/image"/><Relationship Id="rId11" Target="../media/image51.png" Type="http://schemas.openxmlformats.org/officeDocument/2006/relationships/image"/><Relationship Id="rId12" Target="../media/image52.svg" Type="http://schemas.openxmlformats.org/officeDocument/2006/relationships/image"/><Relationship Id="rId13" Target="../notesSlides/notesSlide21.xml" Type="http://schemas.openxmlformats.org/officeDocument/2006/relationships/notesSlide"/><Relationship Id="rId2" Target="../media/image4.jpeg" Type="http://schemas.openxmlformats.org/officeDocument/2006/relationships/image"/><Relationship Id="rId3" Target="../media/image73.png" Type="http://schemas.openxmlformats.org/officeDocument/2006/relationships/image"/><Relationship Id="rId4" Target="../media/image74.svg" Type="http://schemas.openxmlformats.org/officeDocument/2006/relationships/image"/><Relationship Id="rId5" Target="../media/image75.png" Type="http://schemas.openxmlformats.org/officeDocument/2006/relationships/image"/><Relationship Id="rId6" Target="../media/image76.svg" Type="http://schemas.openxmlformats.org/officeDocument/2006/relationships/image"/><Relationship Id="rId7" Target="../media/image77.png" Type="http://schemas.openxmlformats.org/officeDocument/2006/relationships/image"/><Relationship Id="rId8" Target="../media/image78.svg" Type="http://schemas.openxmlformats.org/officeDocument/2006/relationships/image"/><Relationship Id="rId9" Target="../media/image55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79.png" Type="http://schemas.openxmlformats.org/officeDocument/2006/relationships/image"/><Relationship Id="rId4" Target="../media/image80.svg" Type="http://schemas.openxmlformats.org/officeDocument/2006/relationships/image"/><Relationship Id="rId5" Target="../notesSlides/notesSlide22.xml" Type="http://schemas.openxmlformats.org/officeDocument/2006/relationships/notesSlide"/><Relationship Id="rId6" Target="../media/image8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A4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2A4E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159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新品发布 · AI增长破局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4376" flipH="false" flipV="false">
            <a:off x="5461032" y="31051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00B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016000" y="33655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从真需求到全域增长系统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699000" y="4191000"/>
            <a:ext cx="2794000" cy="558800"/>
          </a:xfrm>
          <a:prstGeom prst="roundRect">
            <a:avLst>
              <a:gd name="adj" fmla="val 50000"/>
            </a:avLst>
          </a:prstGeom>
          <a:solidFill>
            <a:srgbClr val="00BFFF">
              <a:alpha val="15000"/>
            </a:srgbClr>
          </a:solidFill>
          <a:ln w="12700" cmpd="sng" cap="flat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4953000" y="4343400"/>
            <a:ext cx="254000" cy="254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5270500" y="4318000"/>
            <a:ext cx="203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分享人：AI增长专家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A4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2A4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508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CONTENTS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10668000" cy="812800"/>
          </a:xfrm>
          <a:prstGeom prst="roundRect">
            <a:avLst>
              <a:gd name="adj" fmla="val 1562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66800" y="1879600"/>
            <a:ext cx="355600" cy="355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651000" y="1803400"/>
            <a:ext cx="889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 破局开篇：</a:t>
            </a:r>
            <a:r>
              <a:rPr lang="en-US" b="false" i="false" strike="noStrike" u="none" sz="16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新品增长的本质与时代危机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616200"/>
            <a:ext cx="10668000" cy="812800"/>
          </a:xfrm>
          <a:prstGeom prst="roundRect">
            <a:avLst>
              <a:gd name="adj" fmla="val 1562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66800" y="2844800"/>
            <a:ext cx="355600" cy="355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651000" y="2768600"/>
            <a:ext cx="889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传统陷阱：</a:t>
            </a:r>
            <a:r>
              <a:rPr lang="en-US" b="false" i="false" strike="noStrike" u="none" sz="16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SEO与GEO为什么救不了新品？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3581400"/>
            <a:ext cx="10668000" cy="812800"/>
          </a:xfrm>
          <a:prstGeom prst="roundRect">
            <a:avLst>
              <a:gd name="adj" fmla="val 1562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66800" y="3810000"/>
            <a:ext cx="355600" cy="3556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651000" y="3733800"/>
            <a:ext cx="889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体系升维：</a:t>
            </a:r>
            <a:r>
              <a:rPr lang="en-US" b="false" i="false" strike="noStrike" u="none" sz="16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四大图谱构建AI增长底层系统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4546600"/>
            <a:ext cx="10668000" cy="812800"/>
          </a:xfrm>
          <a:prstGeom prst="roundRect">
            <a:avLst>
              <a:gd name="adj" fmla="val 1562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66800" y="4775200"/>
            <a:ext cx="355600" cy="3556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651000" y="4699000"/>
            <a:ext cx="889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 全阶段落地：</a:t>
            </a:r>
            <a:r>
              <a:rPr lang="en-US" b="false" i="false" strike="noStrike" u="none" sz="16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新品发布四阶段AI增长方案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5511800"/>
            <a:ext cx="10668000" cy="812800"/>
          </a:xfrm>
          <a:prstGeom prst="roundRect">
            <a:avLst>
              <a:gd name="adj" fmla="val 1562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1066800" y="5740400"/>
            <a:ext cx="355600" cy="3556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1651000" y="5664200"/>
            <a:ext cx="889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05 实战总结：</a:t>
            </a:r>
            <a:r>
              <a:rPr lang="en-US" b="false" i="false" strike="noStrike" u="none" sz="16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AI增长破局5大核心心法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A4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2A4E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1778000"/>
            <a:ext cx="1219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80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3048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破局开篇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42969" flipH="false" flipV="false">
            <a:off x="5588040" y="39941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B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0" y="4191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新品增长的本质与时代危机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A4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2A4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行业真问题：90%新品失败，不是流量不行，是需求错了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5080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0320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新品上市即滞销的三大死穴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9549" flipH="false" flipV="false">
            <a:off x="1016009" y="2470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7305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397000" y="2692400"/>
            <a:ext cx="419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同质化严重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赛道拥挤，大家都在做同样的东西，缺乏差异化。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4925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397000" y="3454400"/>
            <a:ext cx="419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技术炫技陷阱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沉迷于参数堆叠，忽略了用户真实的使用体验。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2545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397000" y="4216400"/>
            <a:ext cx="419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闭门造车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脱离用户场景，自嗨式研发，不知道用户真正需要什么。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350000" y="1778000"/>
            <a:ext cx="5080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604000" y="20320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6985000" y="20320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AI 时代的新挑战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604000" y="24765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AI技术的全面普惠正在消除技术壁垒，今天的技术优势明天可能就不复存在。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9549" flipH="false" flipV="false">
            <a:off x="6604009" y="3295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9" id="19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604000" y="3556000"/>
            <a:ext cx="355600" cy="3556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7048500" y="35560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核心破局点：回归真需求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604000" y="4000500"/>
            <a:ext cx="457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所有增长问题的前提，都必须是——我们是否真的找到了用户的“真需求”？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A4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2A4E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企业最大误区：用产品视角做增长，用炫技代替痛点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524000"/>
            <a:ext cx="5080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7780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24000" y="17780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企业视角 (Product View)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9549" flipH="false" flipV="false">
            <a:off x="1016009" y="2279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2514600"/>
            <a:ext cx="203200" cy="2032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333500" y="24765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我们的技术架构多牛！参数指标多好！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2959100"/>
            <a:ext cx="203200" cy="2032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333500" y="29210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我们的功能模块多全！覆盖场景多广！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403600"/>
            <a:ext cx="203200" cy="2032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333500" y="33655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我们的算法模型多先进！算力多强！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350000" y="1524000"/>
            <a:ext cx="5080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604000" y="17780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7112000" y="17780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用户视角 (User View)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9549" flipH="false" flipV="false">
            <a:off x="6604009" y="2279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9" id="19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604000" y="2514600"/>
            <a:ext cx="203200" cy="2032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6921500" y="24765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这个产品能帮我解决什么具体问题？</a:t>
            </a:r>
            <a:endParaRPr lang="en-US" sz="1100"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604000" y="2959100"/>
            <a:ext cx="203200" cy="2032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6921500" y="29210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对我/我的业务有什么实际价值和好处？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62000" y="5080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00BFFF">
              <a:alpha val="15000"/>
            </a:srgbClr>
          </a:solidFill>
          <a:ln w="12700" cmpd="sng" cap="flat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1016000" y="5270500"/>
            <a:ext cx="304800" cy="3048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1397000" y="5270500"/>
            <a:ext cx="990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增长第一性原理：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AI时代，功能与技术的门槛日益降低。唯有回归本质，“先对准真实需求，再谈增长方法”，才是可持续增长的核心逻辑。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A4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2A4E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190500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64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2921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传统陷阱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42969" flipH="false" flipV="false">
            <a:off x="5588040" y="3803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B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0" y="40005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SEO与GEO为什么救不了新品？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定义清晰：SEO vs GEO 到底是什么？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5080000" cy="4572000"/>
          </a:xfrm>
          <a:prstGeom prst="roundRect">
            <a:avLst>
              <a:gd name="adj" fmla="val 2777"/>
            </a:avLst>
          </a:prstGeom>
          <a:solidFill>
            <a:srgbClr val="0A2A4E">
              <a:alpha val="85000"/>
            </a:srgbClr>
          </a:solidFill>
          <a:ln w="12700" cmpd="sng" cap="flat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778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752600"/>
            <a:ext cx="4064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SEO 搜索引擎优化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9549" flipH="false" flipV="false">
            <a:off x="1016009" y="2279650"/>
            <a:ext cx="457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24130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核心特点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27686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面向百度、谷歌等传统搜索引擎，通过长期的关键词布局与外链建设提升权重，获取自然流量。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36195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核心痛点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39751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靠时间换权重，过程漫长且效果不可控，短期内难以看到显著回报。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350000" y="1524000"/>
            <a:ext cx="5080000" cy="4572000"/>
          </a:xfrm>
          <a:prstGeom prst="roundRect">
            <a:avLst>
              <a:gd name="adj" fmla="val 2777"/>
            </a:avLst>
          </a:prstGeom>
          <a:solidFill>
            <a:srgbClr val="0A2A4E">
              <a:alpha val="85000"/>
            </a:srgbClr>
          </a:solidFill>
          <a:ln w="12700" cmpd="sng" cap="flat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604000" y="17780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7112000" y="1752600"/>
            <a:ext cx="4064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GEO 生成式引擎优化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9549" flipH="false" flipV="false">
            <a:off x="6604009" y="2279650"/>
            <a:ext cx="457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6604000" y="24130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核心特点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604000" y="27686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面向ChatGPT、文心一言等AI大模型，通过投喂特定内容与优化指令，在回答中植入品牌信息。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604000" y="36195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核心痛点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604000" y="39751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依赖持续投喂，一旦停止运营，曝光量会迅速下降甚至消失，需要持续投入资源。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A4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传统增长三大致命短板（新品必死坑）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3302000" cy="4572000"/>
          </a:xfrm>
          <a:prstGeom prst="roundRect">
            <a:avLst>
              <a:gd name="adj" fmla="val 3846"/>
            </a:avLst>
          </a:prstGeom>
          <a:solidFill>
            <a:srgbClr val="0A2A4E">
              <a:alpha val="85000"/>
            </a:srgbClr>
          </a:solidFill>
          <a:ln w="12700" cmpd="sng" cap="flat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609600" cy="609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016000" y="2603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01 时效坑：太慢与太脆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5626" flipH="false" flipV="false">
            <a:off x="1016014" y="3041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3175000"/>
            <a:ext cx="2794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SEO周期过长，新品等不起；GEO稳定性差，停更即消失。对于追求快速引爆的新品来说，这两种方式都存在致命的时效性缺陷。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1651000"/>
            <a:ext cx="3302000" cy="4572000"/>
          </a:xfrm>
          <a:prstGeom prst="roundRect">
            <a:avLst>
              <a:gd name="adj" fmla="val 3846"/>
            </a:avLst>
          </a:prstGeom>
          <a:solidFill>
            <a:srgbClr val="0A2A4E">
              <a:alpha val="85000"/>
            </a:srgbClr>
          </a:solidFill>
          <a:ln w="12700" cmpd="sng" cap="flat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1905000"/>
            <a:ext cx="609600" cy="609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4699000" y="2603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02 风险坑：AI投毒不可逆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15626" flipH="false" flipV="false">
            <a:off x="4699014" y="3041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4699000" y="3175000"/>
            <a:ext cx="2794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外包不专业易导致内容虚假、关键词堆砌，污染大模型认知。一旦产生负面输出，这种伤害是长期且难以修复的，无异于品牌自杀。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0" y="1651000"/>
            <a:ext cx="3302000" cy="4572000"/>
          </a:xfrm>
          <a:prstGeom prst="roundRect">
            <a:avLst>
              <a:gd name="adj" fmla="val 3846"/>
            </a:avLst>
          </a:prstGeom>
          <a:solidFill>
            <a:srgbClr val="0A2A4E">
              <a:alpha val="85000"/>
            </a:srgbClr>
          </a:solidFill>
          <a:ln w="12700" cmpd="sng" cap="flat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82000" y="1905000"/>
            <a:ext cx="609600" cy="6096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382000" y="2603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03 能力坑：核心竞争力丧失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15626" flipH="false" flipV="false">
            <a:off x="8382014" y="3041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8382000" y="3175000"/>
            <a:ext cx="2794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将增长核心环节外包，企业将永远无法掌握用户数据和AI运营的底层逻辑，最终失去对品牌增长的话语权，沦为被动跟随者。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A4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2A4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核心结论：AI增长绝对不能外包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524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00BFFF">
              <a:alpha val="10000"/>
            </a:srgbClr>
          </a:solidFill>
          <a:ln w="12700" cmpd="sng" cap="flat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79500" y="1917700"/>
            <a:ext cx="609600" cy="609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905000" y="1778000"/>
            <a:ext cx="889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必须品牌自掌握、自运营、自迭代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3302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556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524000" y="35560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认知干净度即生命线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9291" flipH="false" flipV="false">
            <a:off x="1016009" y="40322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1016000" y="4191000"/>
            <a:ext cx="4699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在AI时代，品牌在大模型中的“认知干净度”直接决定了品牌的生死。这是品牌最核心的数字资产，不容有失。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23000" y="3302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477000" y="35560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6985000" y="35560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外包带来不可控风险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9291" flipH="false" flipV="false">
            <a:off x="6477009" y="40322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6477000" y="4191000"/>
            <a:ext cx="4699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任何外包行为都可能引入数据泄露或品牌形象扭曲的风险。只有自主掌控，才能确保品牌形象正面、准确且可持续。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A4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2A4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1905000"/>
            <a:ext cx="1219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80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3302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体系升维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42969" flipH="false" flipV="false">
            <a:off x="5588040" y="4184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B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0" y="43815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四大图谱构建AI增长底层系统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A4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2A4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我们的破局逻辑：不做单点，做全域增长系统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143000" y="2032000"/>
            <a:ext cx="609600" cy="609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143000" y="2730500"/>
            <a:ext cx="4318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传统打法：碎片化优化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10110" flipH="false" flipV="false">
            <a:off x="1143009" y="32321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143000" y="3429000"/>
            <a:ext cx="4318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采用碎片化的SEO/GEO操作，往往只能“头痛医头，脚痛医脚”。各个环节缺乏联动，治标不治本，难以形成长效增长。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096000" y="1651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00BFFF">
              <a:alpha val="8000"/>
            </a:srgbClr>
          </a:solidFill>
          <a:ln w="12700" cmpd="sng" cap="flat">
            <a:solidFill>
              <a:srgbClr val="00BFF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77000" y="2032000"/>
            <a:ext cx="609600" cy="609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6477000" y="2730500"/>
            <a:ext cx="4318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我们的方案：闭环增长生命体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10110" flipH="false" flipV="false">
            <a:off x="6477009" y="32321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BFF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6477000" y="3429000"/>
            <a:ext cx="4318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构建“需求-渠道-内容-产品”的闭环系统。各环节相互关联、相互赋能，形成一个有机的、可自我优化的增长生态。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A4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2A4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四大核心图谱：新品增长的底层密码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97000"/>
            <a:ext cx="5207000" cy="2413000"/>
          </a:xfrm>
          <a:prstGeom prst="roundRect">
            <a:avLst>
              <a:gd name="adj" fmla="val 5263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66800" y="17018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74800" y="17018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渠道图谱 · 全域流量挖掘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9496" flipH="false" flipV="false">
            <a:off x="1066809" y="2203450"/>
            <a:ext cx="4597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66800" y="2336800"/>
            <a:ext cx="45974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挖掘AI流量入口与内容分发路径，精准定位高转化核心渠道，拒绝盲目铺量，确保每一分投入都有回报。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1397000"/>
            <a:ext cx="5207000" cy="2413000"/>
          </a:xfrm>
          <a:prstGeom prst="roundRect">
            <a:avLst>
              <a:gd name="adj" fmla="val 5263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527800" y="17018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7035800" y="17018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品类图谱 · 差异化定位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9496" flipH="false" flipV="false">
            <a:off x="6527809" y="2203450"/>
            <a:ext cx="4597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6527800" y="2336800"/>
            <a:ext cx="45974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穿透行业品类边界，深度洞察用户认知空白，寻找市场机会点，实现产品的差异化突围与精准定位。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4064000"/>
            <a:ext cx="5207000" cy="2413000"/>
          </a:xfrm>
          <a:prstGeom prst="roundRect">
            <a:avLst>
              <a:gd name="adj" fmla="val 5263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66800" y="43688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574800" y="43688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场景图谱 · 真实痛点还原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9496" flipH="false" flipV="false">
            <a:off x="1066809" y="4870450"/>
            <a:ext cx="4597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1066800" y="5003800"/>
            <a:ext cx="45974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深度还原用户的真实使用、决策与痛点场景，将产品植入具体情境，使其成为用户无法拒绝的解决方案。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223000" y="4064000"/>
            <a:ext cx="5207000" cy="2413000"/>
          </a:xfrm>
          <a:prstGeom prst="roundRect">
            <a:avLst>
              <a:gd name="adj" fmla="val 5263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527800" y="4368800"/>
            <a:ext cx="406400" cy="4064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7035800" y="43688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产品图谱 · 多维竞品对标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-9496" flipH="false" flipV="false">
            <a:off x="6527809" y="4870450"/>
            <a:ext cx="4597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6527800" y="5003800"/>
            <a:ext cx="45974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从功能、体验、口碑等维度全面对比竞品，精准分析优劣势，找到用户未被满足的需求缺口，构建产品护城河。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A4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2A4E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图谱下钻：从数据到内容，从内容到选题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2540000" cy="3556000"/>
          </a:xfrm>
          <a:prstGeom prst="roundRect">
            <a:avLst>
              <a:gd name="adj" fmla="val 500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727200" y="1905000"/>
            <a:ext cx="609600" cy="609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889000" y="26035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 数据层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21485" flipH="false" flipV="false">
            <a:off x="1016020" y="3041650"/>
            <a:ext cx="203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889000" y="3175000"/>
            <a:ext cx="2286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四大图谱基础构建，汇聚全量信息来源，为分析提供坚实底座。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467100" y="1651000"/>
            <a:ext cx="2540000" cy="3556000"/>
          </a:xfrm>
          <a:prstGeom prst="roundRect">
            <a:avLst>
              <a:gd name="adj" fmla="val 500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432300" y="1905000"/>
            <a:ext cx="609600" cy="609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3594100" y="26035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分析层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21485" flipH="false" flipV="false">
            <a:off x="3721120" y="3041650"/>
            <a:ext cx="203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3594100" y="3175000"/>
            <a:ext cx="2286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利用AI技术深度下钻，挖掘数据关联，识别潜在趋势与机会。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172200" y="1651000"/>
            <a:ext cx="2540000" cy="3556000"/>
          </a:xfrm>
          <a:prstGeom prst="roundRect">
            <a:avLst>
              <a:gd name="adj" fmla="val 500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7137400" y="1905000"/>
            <a:ext cx="609600" cy="6096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6299200" y="26035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内容层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21485" flipH="false" flipV="false">
            <a:off x="6426220" y="3041650"/>
            <a:ext cx="203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6299200" y="3175000"/>
            <a:ext cx="2286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基于分析结果自动生成，确保内容与用户需求高度匹配。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890000" y="1651000"/>
            <a:ext cx="2540000" cy="3556000"/>
          </a:xfrm>
          <a:prstGeom prst="roundRect">
            <a:avLst>
              <a:gd name="adj" fmla="val 500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855200" y="1905000"/>
            <a:ext cx="609600" cy="6096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9017000" y="26035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 选题层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-21485" flipH="false" flipV="false">
            <a:off x="9144020" y="3041650"/>
            <a:ext cx="203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9017000" y="3175000"/>
            <a:ext cx="2286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洞察用户真实疑问，从用户视角策划选题，拒绝主观臆断。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62000" y="5461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0BFFF">
              <a:alpha val="15000"/>
            </a:srgbClr>
          </a:solidFill>
          <a:ln w="12700" cmpd="sng" cap="flat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1016000" y="5689600"/>
            <a:ext cx="304800" cy="3048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1397000" y="5651500"/>
            <a:ext cx="965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核心原则：拒绝自嗨，拒绝投毒式内容，确保每一步都精准有效。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A4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系统级增长：不止流量，更反哺产品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0A2A4E">
              <a:alpha val="8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508000" cy="5080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016000" y="2667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传统增长的局限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5626" flipH="false" flipV="false">
            <a:off x="1016014" y="3105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B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3238500"/>
            <a:ext cx="2794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传统模式往往只关注流量、曝光、转化等单点指标，如同仅维护身体的某个器官，缺乏系统性的协同效应。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1778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0A2A4E">
              <a:alpha val="8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2032000"/>
            <a:ext cx="508000" cy="508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4699000" y="2667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生态系统的闭环优势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15626" flipH="false" flipV="false">
            <a:off x="4699014" y="3105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B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4699000" y="3238500"/>
            <a:ext cx="2794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构建完整的增长生态，沉淀用户、选题及场景数据，形成“增长-洞察-产品优化”的正向循环，反哺产品迭代。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0" y="1778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0A2A4E">
              <a:alpha val="8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82000" y="2032000"/>
            <a:ext cx="508000" cy="5080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382000" y="2667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AI时代的核心标准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15626" flipH="false" flipV="false">
            <a:off x="8382014" y="3105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B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8382000" y="3238500"/>
            <a:ext cx="2794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好产品的标准不再是技术炫技，而是贴合用户真需求。我们的系统正是连接增长与产品的关键桥梁。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A4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2A4E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1778000"/>
            <a:ext cx="1219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80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3048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全阶段落地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42969" flipH="false" flipV="false">
            <a:off x="5588040" y="3930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B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0" y="4191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新品发布四阶段AI增长方案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A4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2A4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筹备期：定方向，建壁垒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524000"/>
            <a:ext cx="5143500" cy="4572000"/>
          </a:xfrm>
          <a:prstGeom prst="roundRect">
            <a:avLst>
              <a:gd name="adj" fmla="val 2777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66800" y="18288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74800" y="1828800"/>
            <a:ext cx="381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核心痛点：方向与定位困境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9629" flipH="false" flipV="false">
            <a:off x="1066809" y="2330450"/>
            <a:ext cx="4533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66800" y="2489200"/>
            <a:ext cx="45339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03200" marL="203200">
              <a:lnSpc>
                <a:spcPct val="125000"/>
              </a:lnSpc>
              <a:buClr>
                <a:srgbClr val="DCDCDC"/>
              </a:buClr>
              <a:buChar char="•"/>
              <a:defRPr/>
            </a:pPr>
            <a:r>
              <a:rPr lang="en-US" b="false" i="false" strike="noStrike" u="none" sz="16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需求模糊：缺乏对用户真实痛点的深度洞察</a:t>
            </a:r>
            <a:r>
              <a:rPr lang="en-US" b="false" i="false" strike="noStrike" u="none" sz="16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DCDCDC"/>
              </a:buClr>
              <a:buChar char="•"/>
            </a:pPr>
            <a:r>
              <a:rPr lang="en-US" b="false" i="false" strike="noStrike" u="none" sz="16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定位不清：面对严重的竞品内卷，难以找到差异化突破口</a:t>
            </a:r>
            <a:r>
              <a:rPr lang="en-US" b="false" i="false" strike="noStrike" u="none" sz="16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DCDCDC"/>
              </a:buClr>
              <a:buChar char="•"/>
            </a:pPr>
            <a:r>
              <a:rPr lang="en-US" b="false" i="false" strike="noStrike" u="none" sz="16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路径迷茫：无法确定新品研发与上市的最佳路径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86500" y="1524000"/>
            <a:ext cx="5143500" cy="4572000"/>
          </a:xfrm>
          <a:prstGeom prst="roundRect">
            <a:avLst>
              <a:gd name="adj" fmla="val 2777"/>
            </a:avLst>
          </a:prstGeom>
          <a:solidFill>
            <a:srgbClr val="00BFFF">
              <a:alpha val="8000"/>
            </a:srgbClr>
          </a:solidFill>
          <a:ln w="12700" cmpd="sng" cap="flat">
            <a:solidFill>
              <a:srgbClr val="00BFF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591300" y="18288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7099300" y="1828800"/>
            <a:ext cx="381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AI 解决方案：图谱导航与壁垒构建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9629" flipH="false" flipV="false">
            <a:off x="6591309" y="2330450"/>
            <a:ext cx="4533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6591300" y="2489200"/>
            <a:ext cx="45339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03200" marL="203200">
              <a:lnSpc>
                <a:spcPct val="125000"/>
              </a:lnSpc>
              <a:buClr>
                <a:srgbClr val="FFFFFF"/>
              </a:buClr>
              <a:buChar char="•"/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精准定位：运用四大图谱进行深度市场和用户研究，锁定新品方向</a:t>
            </a: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FFFFFF"/>
              </a:buClr>
              <a:buChar char="•"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前置布局：搭建内容库，为上市后的爆发式增长储备弹药</a:t>
            </a: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FFFFFF"/>
              </a:buClr>
              <a:buChar char="•"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建立壁垒：通过数据驱动的内容策略，构建长期的竞争护城河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A4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2A4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首发期：快曝光，建信任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143000" y="2032000"/>
            <a:ext cx="609600" cy="609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143000" y="2730500"/>
            <a:ext cx="4318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市场痛点与挑战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10110" flipH="false" flipV="false">
            <a:off x="1143009" y="32321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143000" y="3429000"/>
            <a:ext cx="4318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03200" marL="203200">
              <a:lnSpc>
                <a:spcPct val="125000"/>
              </a:lnSpc>
              <a:buClr>
                <a:srgbClr val="DCDCDC"/>
              </a:buClr>
              <a:buChar char="•"/>
              <a:defRPr/>
            </a:pPr>
            <a:r>
              <a:rPr lang="en-US" b="false" i="false" strike="noStrike" u="none" sz="16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新品上市初期，自然曝光量低，用户认知度不足。</a:t>
            </a:r>
            <a:r>
              <a:rPr lang="en-US" b="false" i="false" strike="noStrike" u="none" sz="16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DCDCDC"/>
              </a:buClr>
              <a:buChar char="•"/>
            </a:pPr>
            <a:r>
              <a:rPr lang="en-US" b="false" i="false" strike="noStrike" u="none" sz="16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传统SEO优化周期长，“远水解不了近渴”，无法满足首发引爆需求。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350000" y="1651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731000" y="2032000"/>
            <a:ext cx="609600" cy="609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6731000" y="2730500"/>
            <a:ext cx="4318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AI 驱动的破局之道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10110" flipH="false" flipV="false">
            <a:off x="6731009" y="32321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6731000" y="3429000"/>
            <a:ext cx="4318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03200" marL="203200">
              <a:lnSpc>
                <a:spcPct val="125000"/>
              </a:lnSpc>
              <a:buClr>
                <a:srgbClr val="DCDCDC"/>
              </a:buClr>
              <a:buChar char="•"/>
              <a:defRPr/>
            </a:pPr>
            <a:r>
              <a:rPr lang="en-US" b="false" i="false" strike="noStrike" u="none" sz="16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依托前期知识图谱，在各大AI平台精准投喂，快速占领搜索入口。</a:t>
            </a:r>
            <a:r>
              <a:rPr lang="en-US" b="false" i="false" strike="noStrike" u="none" sz="16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DCDCDC"/>
              </a:buClr>
              <a:buChar char="•"/>
            </a:pPr>
            <a:r>
              <a:rPr lang="en-US" b="false" i="false" strike="noStrike" u="none" sz="16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坚持自主运营，通过真实、专业的内容输出，迅速建立用户信任，实现首发即破圈。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A4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2A4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爆发期：稳流量，提转化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143000" y="2159000"/>
            <a:ext cx="609600" cy="609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143000" y="2857500"/>
            <a:ext cx="4318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当前业务痛点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10110" flipH="false" flipV="false">
            <a:off x="1143009" y="33591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143000" y="3581400"/>
            <a:ext cx="254000" cy="254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524000" y="35560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流量波动大：获取的流量难以保持稳定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143000" y="4025900"/>
            <a:ext cx="254000" cy="2540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524000" y="40005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转化效率低：用户来了但留存和转化差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143000" y="4470400"/>
            <a:ext cx="254000" cy="254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524000" y="44450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产能瓶颈：内容生产速度跟不上流量增长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350000" y="1778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731000" y="2159000"/>
            <a:ext cx="609600" cy="6096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6731000" y="2857500"/>
            <a:ext cx="4318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 驱动解决方案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10110" flipH="false" flipV="false">
            <a:off x="6731009" y="33591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9" id="19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731000" y="3581400"/>
            <a:ext cx="254000" cy="2540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7112000" y="35560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精准渠道放大：基于渠道图谱聚焦高转化核心</a:t>
            </a:r>
            <a:endParaRPr lang="en-US" sz="1100"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731000" y="4025900"/>
            <a:ext cx="254000" cy="2540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7112000" y="40005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自动化内容生产：AI生成海量高质内容，持续供给</a:t>
            </a:r>
            <a:endParaRPr lang="en-US" sz="1100"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731000" y="4470400"/>
            <a:ext cx="254000" cy="2540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7112000" y="44450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实现双增长：保障流量稳定性与转化率的同步提升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A4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2A4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沉淀期：反哺产品，建护城河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66800" y="19558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74800" y="1955800"/>
            <a:ext cx="381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当前增长瓶颈与痛点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9766" flipH="false" flipV="false">
            <a:off x="1066809" y="2457450"/>
            <a:ext cx="447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66800" y="2667000"/>
            <a:ext cx="44704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03200" marL="203200">
              <a:lnSpc>
                <a:spcPct val="125000"/>
              </a:lnSpc>
              <a:buClr>
                <a:srgbClr val="DCDCDC"/>
              </a:buClr>
              <a:buChar char="•"/>
              <a:defRPr/>
            </a:pPr>
            <a:r>
              <a:rPr lang="en-US" b="false" i="false" strike="noStrike" u="none" sz="16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增长进入平台期，用户获取成本上升，自然增长乏力。</a:t>
            </a:r>
            <a:r>
              <a:rPr lang="en-US" b="false" i="false" strike="noStrike" u="none" sz="16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DCDCDC"/>
              </a:buClr>
              <a:buChar char="•"/>
            </a:pPr>
            <a:r>
              <a:rPr lang="en-US" b="false" i="false" strike="noStrike" u="none" sz="16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用户复购率低，缺乏有效的留存抓手。</a:t>
            </a:r>
            <a:r>
              <a:rPr lang="en-US" b="false" i="false" strike="noStrike" u="none" sz="16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DCDCDC"/>
              </a:buClr>
              <a:buChar char="•"/>
            </a:pPr>
            <a:r>
              <a:rPr lang="en-US" b="false" i="false" strike="noStrike" u="none" sz="16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产品后续迭代缺乏精准的数据支撑，方向模糊。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350000" y="1651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654800" y="19558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7162800" y="1955800"/>
            <a:ext cx="381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AI驱动的产品反哺与护城河构建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9766" flipH="false" flipV="false">
            <a:off x="6654809" y="2457450"/>
            <a:ext cx="447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6654800" y="2667000"/>
            <a:ext cx="44704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03200" marL="203200">
              <a:lnSpc>
                <a:spcPct val="125000"/>
              </a:lnSpc>
              <a:buClr>
                <a:srgbClr val="DCDCDC"/>
              </a:buClr>
              <a:buChar char="•"/>
              <a:defRPr/>
            </a:pPr>
            <a:r>
              <a:rPr lang="en-US" b="false" i="false" strike="noStrike" u="none" sz="16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数据资产化：深度分析积累的用户行为、场景及反馈数据。</a:t>
            </a:r>
            <a:r>
              <a:rPr lang="en-US" b="false" i="false" strike="noStrike" u="none" sz="16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DCDCDC"/>
              </a:buClr>
              <a:buChar char="•"/>
            </a:pPr>
            <a:r>
              <a:rPr lang="en-US" b="false" i="false" strike="noStrike" u="none" sz="16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闭环反哺：将数据洞察转化为产品优化需求，指导新功能开发。</a:t>
            </a:r>
            <a:r>
              <a:rPr lang="en-US" b="false" i="false" strike="noStrike" u="none" sz="16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DCDCDC"/>
              </a:buClr>
              <a:buChar char="•"/>
            </a:pPr>
            <a:r>
              <a:rPr lang="en-US" b="false" i="false" strike="noStrike" u="none" sz="16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品牌壁垒：持续巩固AI平台的品牌认知，构建长期增长护城河。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A4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2A4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1778000"/>
            <a:ext cx="12192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80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3302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实战总结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57290" flipH="false" flipV="false">
            <a:off x="5715053" y="4184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00B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0" y="4445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AI增长破局5大核心心法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A4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2A4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AI增长破局5大核心心法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2032000" cy="4318000"/>
          </a:xfrm>
          <a:prstGeom prst="roundRect">
            <a:avLst>
              <a:gd name="adj" fmla="val 625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473200" y="2032000"/>
            <a:ext cx="609600" cy="609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889000" y="2794000"/>
            <a:ext cx="177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先真需求，再做增长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28647" flipH="false" flipV="false">
            <a:off x="1016026" y="3549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B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889000" y="3683000"/>
            <a:ext cx="1778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永远把用户需求放在第一位，避免盲目扩张。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997200" y="1651000"/>
            <a:ext cx="2032000" cy="4318000"/>
          </a:xfrm>
          <a:prstGeom prst="roundRect">
            <a:avLst>
              <a:gd name="adj" fmla="val 625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3708400" y="2032000"/>
            <a:ext cx="609600" cy="609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3124200" y="2794000"/>
            <a:ext cx="177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放弃单点，搭建系统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28647" flipH="false" flipV="false">
            <a:off x="3251226" y="3549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B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3124200" y="3683000"/>
            <a:ext cx="1778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用系统化的思维替代碎片化的操作，实现可持续增长。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232400" y="1651000"/>
            <a:ext cx="2032000" cy="4318000"/>
          </a:xfrm>
          <a:prstGeom prst="roundRect">
            <a:avLst>
              <a:gd name="adj" fmla="val 625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5943600" y="2032000"/>
            <a:ext cx="609600" cy="6096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5359400" y="2794000"/>
            <a:ext cx="177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拒绝外包，自主掌控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28647" flipH="false" flipV="false">
            <a:off x="5486426" y="3549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B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5359400" y="3683000"/>
            <a:ext cx="1778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掌握AI增长的核心能力，守护品牌生命线。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467600" y="1651000"/>
            <a:ext cx="2032000" cy="4318000"/>
          </a:xfrm>
          <a:prstGeom prst="roundRect">
            <a:avLst>
              <a:gd name="adj" fmla="val 625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8178800" y="2032000"/>
            <a:ext cx="609600" cy="6096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7594600" y="2794000"/>
            <a:ext cx="177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图谱打底，内容精准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-28647" flipH="false" flipV="false">
            <a:off x="7721626" y="3549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B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7594600" y="3683000"/>
            <a:ext cx="1778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以数据为基础，确保每一步策略都精准有效。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9702800" y="1651000"/>
            <a:ext cx="2032000" cy="4318000"/>
          </a:xfrm>
          <a:prstGeom prst="roundRect">
            <a:avLst>
              <a:gd name="adj" fmla="val 625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10414000" y="2032000"/>
            <a:ext cx="609600" cy="6096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9829800" y="2794000"/>
            <a:ext cx="177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增长驱动，反哺产品</a:t>
            </a:r>
            <a:endParaRPr lang="en-US" sz="1100"/>
          </a:p>
        </p:txBody>
      </p:sp>
      <p:cxnSp>
        <p:nvCxnSpPr>
          <p:cNvPr name="Connector 28" id="28"/>
          <p:cNvCxnSpPr/>
          <p:nvPr/>
        </p:nvCxnSpPr>
        <p:spPr>
          <a:xfrm rot="-28647" flipH="false" flipV="false">
            <a:off x="9956826" y="3549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B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9" id="29"/>
          <p:cNvSpPr/>
          <p:nvPr/>
        </p:nvSpPr>
        <p:spPr>
          <a:xfrm rot="0" flipH="false" flipV="false">
            <a:off x="9829800" y="3683000"/>
            <a:ext cx="1778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让增长数据反馈产品迭代，形成正向循环。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A4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2A4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286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THANK YOU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4376" flipH="false" flipV="false">
            <a:off x="5461032" y="3422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B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016000" y="3683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期待与您共同开启AI增长新篇章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270500" y="4445000"/>
            <a:ext cx="254000" cy="2540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5588000" y="4419600"/>
            <a:ext cx="190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 Growth Summit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